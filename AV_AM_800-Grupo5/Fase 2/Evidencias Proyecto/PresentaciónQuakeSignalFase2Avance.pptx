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Open Sauce Heavy" charset="1" panose="00000A00000000000000"/>
      <p:regular r:id="rId20"/>
    </p:embeddedFont>
    <p:embeddedFont>
      <p:font typeface="Open Sauce" charset="1" panose="00000500000000000000"/>
      <p:regular r:id="rId21"/>
    </p:embeddedFont>
    <p:embeddedFont>
      <p:font typeface="Open Sauce Bold" charset="1" panose="00000800000000000000"/>
      <p:regular r:id="rId22"/>
    </p:embeddedFont>
    <p:embeddedFont>
      <p:font typeface="Inter Semi-Bold" charset="1" panose="02000503000000020004"/>
      <p:regular r:id="rId23"/>
    </p:embeddedFont>
    <p:embeddedFont>
      <p:font typeface="Inter Bold" charset="1" panose="02000503000000020004"/>
      <p:regular r:id="rId24"/>
    </p:embeddedFont>
    <p:embeddedFont>
      <p:font typeface="Open Sauce Medium" charset="1" panose="000006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8.png" Type="http://schemas.openxmlformats.org/officeDocument/2006/relationships/image"/><Relationship Id="rId4"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sv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 Id="rId6" Target="../media/image12.png" Type="http://schemas.openxmlformats.org/officeDocument/2006/relationships/image"/><Relationship Id="rId7" Target="../media/image13.png" Type="http://schemas.openxmlformats.org/officeDocument/2006/relationships/image"/><Relationship Id="rId8" Target="../media/image14.svg" Type="http://schemas.openxmlformats.org/officeDocument/2006/relationships/image"/><Relationship Id="rId9"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15.pn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2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2.png" Type="http://schemas.openxmlformats.org/officeDocument/2006/relationships/image"/><Relationship Id="rId3"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2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2.png" Type="http://schemas.openxmlformats.org/officeDocument/2006/relationships/image"/><Relationship Id="rId11" Target="../media/image33.png" Type="http://schemas.openxmlformats.org/officeDocument/2006/relationships/image"/><Relationship Id="rId2" Target="../media/image24.png" Type="http://schemas.openxmlformats.org/officeDocument/2006/relationships/image"/><Relationship Id="rId3" Target="../media/image25.png" Type="http://schemas.openxmlformats.org/officeDocument/2006/relationships/image"/><Relationship Id="rId4" Target="../media/image26.png" Type="http://schemas.openxmlformats.org/officeDocument/2006/relationships/image"/><Relationship Id="rId5" Target="../media/image27.png" Type="http://schemas.openxmlformats.org/officeDocument/2006/relationships/image"/><Relationship Id="rId6" Target="../media/image28.png" Type="http://schemas.openxmlformats.org/officeDocument/2006/relationships/image"/><Relationship Id="rId7" Target="../media/image29.png" Type="http://schemas.openxmlformats.org/officeDocument/2006/relationships/image"/><Relationship Id="rId8" Target="../media/image30.png" Type="http://schemas.openxmlformats.org/officeDocument/2006/relationships/image"/><Relationship Id="rId9" Target="../media/image3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35.png" Type="http://schemas.openxmlformats.org/officeDocument/2006/relationships/image"/><Relationship Id="rId4" Target="../media/image36.png" Type="http://schemas.openxmlformats.org/officeDocument/2006/relationships/image"/><Relationship Id="rId5" Target="../media/image37.png" Type="http://schemas.openxmlformats.org/officeDocument/2006/relationships/image"/><Relationship Id="rId6" Target="../media/image38.png" Type="http://schemas.openxmlformats.org/officeDocument/2006/relationships/image"/><Relationship Id="rId7" Target="../media/image39.png" Type="http://schemas.openxmlformats.org/officeDocument/2006/relationships/image"/><Relationship Id="rId8" Target="../media/image4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42.jpeg" Type="http://schemas.openxmlformats.org/officeDocument/2006/relationships/image"/><Relationship Id="rId4" Target="../media/VAHYU8s57AY.mp4" Type="http://schemas.openxmlformats.org/officeDocument/2006/relationships/video"/><Relationship Id="rId5" Target="../media/VAHYU8s57AY.mp4" Type="http://schemas.microsoft.com/office/2007/relationships/media"/></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1.png" Type="http://schemas.openxmlformats.org/officeDocument/2006/relationships/image"/><Relationship Id="rId11" Target="../media/image52.png" Type="http://schemas.openxmlformats.org/officeDocument/2006/relationships/image"/><Relationship Id="rId12" Target="../media/image53.png" Type="http://schemas.openxmlformats.org/officeDocument/2006/relationships/image"/><Relationship Id="rId13" Target="../media/image54.png" Type="http://schemas.openxmlformats.org/officeDocument/2006/relationships/image"/><Relationship Id="rId14" Target="../media/image55.png" Type="http://schemas.openxmlformats.org/officeDocument/2006/relationships/image"/><Relationship Id="rId15" Target="../media/image56.png" Type="http://schemas.openxmlformats.org/officeDocument/2006/relationships/image"/><Relationship Id="rId16" Target="../media/image57.png" Type="http://schemas.openxmlformats.org/officeDocument/2006/relationships/image"/><Relationship Id="rId17" Target="../media/image58.png" Type="http://schemas.openxmlformats.org/officeDocument/2006/relationships/image"/><Relationship Id="rId18" Target="../media/image59.png" Type="http://schemas.openxmlformats.org/officeDocument/2006/relationships/image"/><Relationship Id="rId19" Target="../media/image60.png" Type="http://schemas.openxmlformats.org/officeDocument/2006/relationships/image"/><Relationship Id="rId2" Target="../media/image43.png" Type="http://schemas.openxmlformats.org/officeDocument/2006/relationships/image"/><Relationship Id="rId20" Target="../media/image61.png" Type="http://schemas.openxmlformats.org/officeDocument/2006/relationships/image"/><Relationship Id="rId21" Target="../media/image62.png" Type="http://schemas.openxmlformats.org/officeDocument/2006/relationships/image"/><Relationship Id="rId22" Target="../media/image63.png" Type="http://schemas.openxmlformats.org/officeDocument/2006/relationships/image"/><Relationship Id="rId23" Target="../media/image64.png" Type="http://schemas.openxmlformats.org/officeDocument/2006/relationships/image"/><Relationship Id="rId24" Target="../media/image65.png" Type="http://schemas.openxmlformats.org/officeDocument/2006/relationships/image"/><Relationship Id="rId25" Target="../media/image66.png" Type="http://schemas.openxmlformats.org/officeDocument/2006/relationships/image"/><Relationship Id="rId26" Target="../media/image67.png" Type="http://schemas.openxmlformats.org/officeDocument/2006/relationships/image"/><Relationship Id="rId27" Target="../media/image68.png" Type="http://schemas.openxmlformats.org/officeDocument/2006/relationships/image"/><Relationship Id="rId28" Target="../media/image69.png" Type="http://schemas.openxmlformats.org/officeDocument/2006/relationships/image"/><Relationship Id="rId3" Target="../media/image44.png" Type="http://schemas.openxmlformats.org/officeDocument/2006/relationships/image"/><Relationship Id="rId4" Target="../media/image45.png" Type="http://schemas.openxmlformats.org/officeDocument/2006/relationships/image"/><Relationship Id="rId5" Target="../media/image46.png" Type="http://schemas.openxmlformats.org/officeDocument/2006/relationships/image"/><Relationship Id="rId6" Target="../media/image47.png" Type="http://schemas.openxmlformats.org/officeDocument/2006/relationships/image"/><Relationship Id="rId7" Target="../media/image48.png" Type="http://schemas.openxmlformats.org/officeDocument/2006/relationships/image"/><Relationship Id="rId8" Target="../media/image49.png" Type="http://schemas.openxmlformats.org/officeDocument/2006/relationships/image"/><Relationship Id="rId9" Target="../media/image5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70.png" Type="http://schemas.openxmlformats.org/officeDocument/2006/relationships/image"/><Relationship Id="rId5" Target="../media/image71.svg" Type="http://schemas.openxmlformats.org/officeDocument/2006/relationships/image"/><Relationship Id="rId6" Target="../media/image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486411">
            <a:off x="-3736473" y="8044090"/>
            <a:ext cx="15613996" cy="4079156"/>
          </a:xfrm>
          <a:custGeom>
            <a:avLst/>
            <a:gdLst/>
            <a:ahLst/>
            <a:cxnLst/>
            <a:rect r="r" b="b" t="t" l="l"/>
            <a:pathLst>
              <a:path h="4079156" w="15613996">
                <a:moveTo>
                  <a:pt x="0" y="0"/>
                </a:moveTo>
                <a:lnTo>
                  <a:pt x="15613996" y="0"/>
                </a:lnTo>
                <a:lnTo>
                  <a:pt x="15613996" y="4079157"/>
                </a:lnTo>
                <a:lnTo>
                  <a:pt x="0" y="4079157"/>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617754" y="8890732"/>
            <a:ext cx="11806576" cy="1396268"/>
            <a:chOff x="0" y="0"/>
            <a:chExt cx="1508702" cy="178422"/>
          </a:xfrm>
        </p:grpSpPr>
        <p:sp>
          <p:nvSpPr>
            <p:cNvPr name="Freeform 4" id="4"/>
            <p:cNvSpPr/>
            <p:nvPr/>
          </p:nvSpPr>
          <p:spPr>
            <a:xfrm flipH="false" flipV="false" rot="0">
              <a:off x="0" y="0"/>
              <a:ext cx="1508702" cy="178422"/>
            </a:xfrm>
            <a:custGeom>
              <a:avLst/>
              <a:gdLst/>
              <a:ahLst/>
              <a:cxnLst/>
              <a:rect r="r" b="b" t="t" l="l"/>
              <a:pathLst>
                <a:path h="178422" w="1508702">
                  <a:moveTo>
                    <a:pt x="203200" y="178422"/>
                  </a:moveTo>
                  <a:lnTo>
                    <a:pt x="1305502" y="178422"/>
                  </a:lnTo>
                  <a:lnTo>
                    <a:pt x="1508702" y="0"/>
                  </a:lnTo>
                  <a:lnTo>
                    <a:pt x="0" y="0"/>
                  </a:lnTo>
                  <a:lnTo>
                    <a:pt x="203200" y="178422"/>
                  </a:lnTo>
                  <a:close/>
                </a:path>
              </a:pathLst>
            </a:custGeom>
            <a:gradFill rotWithShape="true">
              <a:gsLst>
                <a:gs pos="0">
                  <a:srgbClr val="153953">
                    <a:alpha val="49000"/>
                  </a:srgbClr>
                </a:gs>
                <a:gs pos="100000">
                  <a:srgbClr val="065D9B">
                    <a:alpha val="49000"/>
                  </a:srgbClr>
                </a:gs>
              </a:gsLst>
              <a:lin ang="0"/>
            </a:gradFill>
          </p:spPr>
        </p:sp>
        <p:sp>
          <p:nvSpPr>
            <p:cNvPr name="TextBox 5" id="5"/>
            <p:cNvSpPr txBox="true"/>
            <p:nvPr/>
          </p:nvSpPr>
          <p:spPr>
            <a:xfrm>
              <a:off x="127000" y="-38100"/>
              <a:ext cx="1254702" cy="216522"/>
            </a:xfrm>
            <a:prstGeom prst="rect">
              <a:avLst/>
            </a:prstGeom>
          </p:spPr>
          <p:txBody>
            <a:bodyPr anchor="ctr" rtlCol="false" tIns="50800" lIns="50800" bIns="50800" rIns="50800"/>
            <a:lstStyle/>
            <a:p>
              <a:pPr algn="ctr" marL="0" indent="0" lvl="0">
                <a:lnSpc>
                  <a:spcPts val="2659"/>
                </a:lnSpc>
              </a:pPr>
            </a:p>
          </p:txBody>
        </p:sp>
      </p:grpSp>
      <p:grpSp>
        <p:nvGrpSpPr>
          <p:cNvPr name="Group 6" id="6"/>
          <p:cNvGrpSpPr/>
          <p:nvPr/>
        </p:nvGrpSpPr>
        <p:grpSpPr>
          <a:xfrm rot="8287351">
            <a:off x="5446030" y="8741331"/>
            <a:ext cx="4645285" cy="5898577"/>
            <a:chOff x="0" y="0"/>
            <a:chExt cx="1223450" cy="1553535"/>
          </a:xfrm>
        </p:grpSpPr>
        <p:sp>
          <p:nvSpPr>
            <p:cNvPr name="Freeform 7" id="7"/>
            <p:cNvSpPr/>
            <p:nvPr/>
          </p:nvSpPr>
          <p:spPr>
            <a:xfrm flipH="false" flipV="false" rot="0">
              <a:off x="0" y="0"/>
              <a:ext cx="1223450" cy="1553535"/>
            </a:xfrm>
            <a:custGeom>
              <a:avLst/>
              <a:gdLst/>
              <a:ahLst/>
              <a:cxnLst/>
              <a:rect r="r" b="b" t="t" l="l"/>
              <a:pathLst>
                <a:path h="1553535" w="1223450">
                  <a:moveTo>
                    <a:pt x="0" y="0"/>
                  </a:moveTo>
                  <a:lnTo>
                    <a:pt x="1223450" y="0"/>
                  </a:lnTo>
                  <a:lnTo>
                    <a:pt x="1223450" y="1553535"/>
                  </a:lnTo>
                  <a:lnTo>
                    <a:pt x="0" y="1553535"/>
                  </a:lnTo>
                  <a:close/>
                </a:path>
              </a:pathLst>
            </a:custGeom>
            <a:gradFill rotWithShape="true">
              <a:gsLst>
                <a:gs pos="0">
                  <a:srgbClr val="FFFFFF">
                    <a:alpha val="100000"/>
                  </a:srgbClr>
                </a:gs>
                <a:gs pos="50000">
                  <a:srgbClr val="FFFFFF">
                    <a:alpha val="71000"/>
                  </a:srgbClr>
                </a:gs>
                <a:gs pos="100000">
                  <a:srgbClr val="0B51AE">
                    <a:alpha val="0"/>
                  </a:srgbClr>
                </a:gs>
              </a:gsLst>
              <a:lin ang="5400000"/>
            </a:gradFill>
          </p:spPr>
        </p:sp>
        <p:sp>
          <p:nvSpPr>
            <p:cNvPr name="TextBox 8" id="8"/>
            <p:cNvSpPr txBox="true"/>
            <p:nvPr/>
          </p:nvSpPr>
          <p:spPr>
            <a:xfrm>
              <a:off x="0" y="-38100"/>
              <a:ext cx="1223450" cy="1591635"/>
            </a:xfrm>
            <a:prstGeom prst="rect">
              <a:avLst/>
            </a:prstGeom>
          </p:spPr>
          <p:txBody>
            <a:bodyPr anchor="ctr" rtlCol="false" tIns="50800" lIns="50800" bIns="50800" rIns="50800"/>
            <a:lstStyle/>
            <a:p>
              <a:pPr algn="ctr" marL="0" indent="0" lvl="0">
                <a:lnSpc>
                  <a:spcPts val="2659"/>
                </a:lnSpc>
              </a:pPr>
            </a:p>
          </p:txBody>
        </p:sp>
      </p:grpSp>
      <p:sp>
        <p:nvSpPr>
          <p:cNvPr name="Freeform 9" id="9"/>
          <p:cNvSpPr/>
          <p:nvPr/>
        </p:nvSpPr>
        <p:spPr>
          <a:xfrm flipH="false" flipV="false" rot="0">
            <a:off x="1465775" y="1482096"/>
            <a:ext cx="374773" cy="432638"/>
          </a:xfrm>
          <a:custGeom>
            <a:avLst/>
            <a:gdLst/>
            <a:ahLst/>
            <a:cxnLst/>
            <a:rect r="r" b="b" t="t" l="l"/>
            <a:pathLst>
              <a:path h="432638" w="374773">
                <a:moveTo>
                  <a:pt x="0" y="0"/>
                </a:moveTo>
                <a:lnTo>
                  <a:pt x="374774" y="0"/>
                </a:lnTo>
                <a:lnTo>
                  <a:pt x="374774" y="432638"/>
                </a:lnTo>
                <a:lnTo>
                  <a:pt x="0" y="4326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10" id="10"/>
          <p:cNvSpPr/>
          <p:nvPr/>
        </p:nvSpPr>
        <p:spPr>
          <a:xfrm flipH="true">
            <a:off x="1192810" y="7191336"/>
            <a:ext cx="0" cy="1516286"/>
          </a:xfrm>
          <a:prstGeom prst="line">
            <a:avLst/>
          </a:prstGeom>
          <a:ln cap="flat" w="38100">
            <a:solidFill>
              <a:srgbClr val="000000"/>
            </a:solidFill>
            <a:prstDash val="solid"/>
            <a:headEnd type="none" len="sm" w="sm"/>
            <a:tailEnd type="none" len="sm" w="sm"/>
          </a:ln>
        </p:spPr>
      </p:sp>
      <p:sp>
        <p:nvSpPr>
          <p:cNvPr name="Freeform 11" id="11"/>
          <p:cNvSpPr/>
          <p:nvPr/>
        </p:nvSpPr>
        <p:spPr>
          <a:xfrm flipH="false" flipV="false" rot="0">
            <a:off x="316767" y="-59054"/>
            <a:ext cx="5300439" cy="1303025"/>
          </a:xfrm>
          <a:custGeom>
            <a:avLst/>
            <a:gdLst/>
            <a:ahLst/>
            <a:cxnLst/>
            <a:rect r="r" b="b" t="t" l="l"/>
            <a:pathLst>
              <a:path h="1303025" w="5300439">
                <a:moveTo>
                  <a:pt x="0" y="0"/>
                </a:moveTo>
                <a:lnTo>
                  <a:pt x="5300439" y="0"/>
                </a:lnTo>
                <a:lnTo>
                  <a:pt x="5300439" y="1303025"/>
                </a:lnTo>
                <a:lnTo>
                  <a:pt x="0" y="1303025"/>
                </a:lnTo>
                <a:lnTo>
                  <a:pt x="0" y="0"/>
                </a:lnTo>
                <a:close/>
              </a:path>
            </a:pathLst>
          </a:custGeom>
          <a:blipFill>
            <a:blip r:embed="rId6"/>
            <a:stretch>
              <a:fillRect l="0" t="0" r="0" b="0"/>
            </a:stretch>
          </a:blipFill>
        </p:spPr>
      </p:sp>
      <p:sp>
        <p:nvSpPr>
          <p:cNvPr name="Freeform 12" id="12"/>
          <p:cNvSpPr/>
          <p:nvPr/>
        </p:nvSpPr>
        <p:spPr>
          <a:xfrm flipH="false" flipV="false" rot="0">
            <a:off x="10504602" y="2389263"/>
            <a:ext cx="6306918" cy="2806579"/>
          </a:xfrm>
          <a:custGeom>
            <a:avLst/>
            <a:gdLst/>
            <a:ahLst/>
            <a:cxnLst/>
            <a:rect r="r" b="b" t="t" l="l"/>
            <a:pathLst>
              <a:path h="2806579" w="6306918">
                <a:moveTo>
                  <a:pt x="0" y="0"/>
                </a:moveTo>
                <a:lnTo>
                  <a:pt x="6306918" y="0"/>
                </a:lnTo>
                <a:lnTo>
                  <a:pt x="6306918" y="2806579"/>
                </a:lnTo>
                <a:lnTo>
                  <a:pt x="0" y="280657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3" id="13"/>
          <p:cNvSpPr txBox="true"/>
          <p:nvPr/>
        </p:nvSpPr>
        <p:spPr>
          <a:xfrm rot="0">
            <a:off x="902864" y="3273676"/>
            <a:ext cx="10467380" cy="1028228"/>
          </a:xfrm>
          <a:prstGeom prst="rect">
            <a:avLst/>
          </a:prstGeom>
        </p:spPr>
        <p:txBody>
          <a:bodyPr anchor="t" rtlCol="false" tIns="0" lIns="0" bIns="0" rIns="0">
            <a:spAutoFit/>
          </a:bodyPr>
          <a:lstStyle/>
          <a:p>
            <a:pPr algn="l" marL="0" indent="0" lvl="0">
              <a:lnSpc>
                <a:spcPts val="8036"/>
              </a:lnSpc>
            </a:pPr>
            <a:r>
              <a:rPr lang="en-US" b="true" sz="6696" spc="-140">
                <a:solidFill>
                  <a:srgbClr val="0F5995"/>
                </a:solidFill>
                <a:latin typeface="Open Sauce Heavy"/>
                <a:ea typeface="Open Sauce Heavy"/>
                <a:cs typeface="Open Sauce Heavy"/>
                <a:sym typeface="Open Sauce Heavy"/>
              </a:rPr>
              <a:t>Proyecto </a:t>
            </a:r>
            <a:r>
              <a:rPr lang="en-US" b="true" sz="6696" spc="-140">
                <a:solidFill>
                  <a:srgbClr val="0F5995"/>
                </a:solidFill>
                <a:latin typeface="Open Sauce Heavy"/>
                <a:ea typeface="Open Sauce Heavy"/>
                <a:cs typeface="Open Sauce Heavy"/>
                <a:sym typeface="Open Sauce Heavy"/>
              </a:rPr>
              <a:t>QuakeSignal</a:t>
            </a:r>
          </a:p>
        </p:txBody>
      </p:sp>
      <p:sp>
        <p:nvSpPr>
          <p:cNvPr name="TextBox 14" id="14"/>
          <p:cNvSpPr txBox="true"/>
          <p:nvPr/>
        </p:nvSpPr>
        <p:spPr>
          <a:xfrm rot="0">
            <a:off x="1511299" y="7153236"/>
            <a:ext cx="6257373" cy="645475"/>
          </a:xfrm>
          <a:prstGeom prst="rect">
            <a:avLst/>
          </a:prstGeom>
        </p:spPr>
        <p:txBody>
          <a:bodyPr anchor="t" rtlCol="false" tIns="0" lIns="0" bIns="0" rIns="0">
            <a:spAutoFit/>
          </a:bodyPr>
          <a:lstStyle/>
          <a:p>
            <a:pPr algn="l" marL="0" indent="0" lvl="0">
              <a:lnSpc>
                <a:spcPts val="2616"/>
              </a:lnSpc>
              <a:spcBef>
                <a:spcPct val="0"/>
              </a:spcBef>
            </a:pPr>
            <a:r>
              <a:rPr lang="en-US" sz="1869">
                <a:solidFill>
                  <a:srgbClr val="000000"/>
                </a:solidFill>
                <a:latin typeface="Open Sauce"/>
                <a:ea typeface="Open Sauce"/>
                <a:cs typeface="Open Sauce"/>
                <a:sym typeface="Open Sauce"/>
              </a:rPr>
              <a:t>Integrantes: Gladys Espinoza, Vicente Montenegro y Camila Mancilla</a:t>
            </a:r>
          </a:p>
        </p:txBody>
      </p:sp>
      <p:sp>
        <p:nvSpPr>
          <p:cNvPr name="TextBox 15" id="15"/>
          <p:cNvSpPr txBox="true"/>
          <p:nvPr/>
        </p:nvSpPr>
        <p:spPr>
          <a:xfrm rot="0">
            <a:off x="1028700" y="4562399"/>
            <a:ext cx="9177013" cy="314473"/>
          </a:xfrm>
          <a:prstGeom prst="rect">
            <a:avLst/>
          </a:prstGeom>
        </p:spPr>
        <p:txBody>
          <a:bodyPr anchor="t" rtlCol="false" tIns="0" lIns="0" bIns="0" rIns="0">
            <a:spAutoFit/>
          </a:bodyPr>
          <a:lstStyle/>
          <a:p>
            <a:pPr algn="ctr" marL="0" indent="0" lvl="0">
              <a:lnSpc>
                <a:spcPts val="2616"/>
              </a:lnSpc>
              <a:spcBef>
                <a:spcPct val="0"/>
              </a:spcBef>
            </a:pPr>
            <a:r>
              <a:rPr lang="en-US" sz="1869">
                <a:solidFill>
                  <a:srgbClr val="000000"/>
                </a:solidFill>
                <a:latin typeface="Open Sauce"/>
                <a:ea typeface="Open Sauce"/>
                <a:cs typeface="Open Sauce"/>
                <a:sym typeface="Open Sauce"/>
              </a:rPr>
              <a:t>Capstone 800D</a:t>
            </a:r>
          </a:p>
        </p:txBody>
      </p:sp>
      <p:sp>
        <p:nvSpPr>
          <p:cNvPr name="TextBox 16" id="16"/>
          <p:cNvSpPr txBox="true"/>
          <p:nvPr/>
        </p:nvSpPr>
        <p:spPr>
          <a:xfrm rot="0">
            <a:off x="1511299" y="8001085"/>
            <a:ext cx="6257373" cy="318049"/>
          </a:xfrm>
          <a:prstGeom prst="rect">
            <a:avLst/>
          </a:prstGeom>
        </p:spPr>
        <p:txBody>
          <a:bodyPr anchor="t" rtlCol="false" tIns="0" lIns="0" bIns="0" rIns="0">
            <a:spAutoFit/>
          </a:bodyPr>
          <a:lstStyle/>
          <a:p>
            <a:pPr algn="l" marL="0" indent="0" lvl="0">
              <a:lnSpc>
                <a:spcPts val="2616"/>
              </a:lnSpc>
              <a:spcBef>
                <a:spcPct val="0"/>
              </a:spcBef>
            </a:pPr>
            <a:r>
              <a:rPr lang="en-US" sz="1869">
                <a:solidFill>
                  <a:srgbClr val="000000"/>
                </a:solidFill>
                <a:latin typeface="Open Sauce"/>
                <a:ea typeface="Open Sauce"/>
                <a:cs typeface="Open Sauce"/>
                <a:sym typeface="Open Sauce"/>
              </a:rPr>
              <a:t>Docente: Aldo Martinez Ordenes</a:t>
            </a:r>
          </a:p>
        </p:txBody>
      </p:sp>
      <p:sp>
        <p:nvSpPr>
          <p:cNvPr name="TextBox 17" id="17"/>
          <p:cNvSpPr txBox="true"/>
          <p:nvPr/>
        </p:nvSpPr>
        <p:spPr>
          <a:xfrm rot="0">
            <a:off x="1465775" y="8426859"/>
            <a:ext cx="6257373" cy="645475"/>
          </a:xfrm>
          <a:prstGeom prst="rect">
            <a:avLst/>
          </a:prstGeom>
        </p:spPr>
        <p:txBody>
          <a:bodyPr anchor="t" rtlCol="false" tIns="0" lIns="0" bIns="0" rIns="0">
            <a:spAutoFit/>
          </a:bodyPr>
          <a:lstStyle/>
          <a:p>
            <a:pPr algn="l">
              <a:lnSpc>
                <a:spcPts val="2616"/>
              </a:lnSpc>
            </a:pPr>
            <a:r>
              <a:rPr lang="en-US" sz="1869">
                <a:solidFill>
                  <a:srgbClr val="000000"/>
                </a:solidFill>
                <a:latin typeface="Open Sauce"/>
                <a:ea typeface="Open Sauce"/>
                <a:cs typeface="Open Sauce"/>
                <a:sym typeface="Open Sauce"/>
              </a:rPr>
              <a:t>Grupo: 5</a:t>
            </a:r>
          </a:p>
          <a:p>
            <a:pPr algn="l" marL="0" indent="0" lvl="0">
              <a:lnSpc>
                <a:spcPts val="2616"/>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5660140" y="958496"/>
            <a:ext cx="5715372" cy="653169"/>
          </a:xfrm>
          <a:prstGeom prst="rect">
            <a:avLst/>
          </a:prstGeom>
        </p:spPr>
        <p:txBody>
          <a:bodyPr anchor="t" rtlCol="false" tIns="0" lIns="0" bIns="0" rIns="0">
            <a:spAutoFit/>
          </a:bodyPr>
          <a:lstStyle/>
          <a:p>
            <a:pPr algn="ctr" marL="0" indent="0" lvl="0">
              <a:lnSpc>
                <a:spcPts val="5290"/>
              </a:lnSpc>
            </a:pPr>
            <a:r>
              <a:rPr lang="en-US" b="true" sz="4069">
                <a:solidFill>
                  <a:srgbClr val="0F5995"/>
                </a:solidFill>
                <a:latin typeface="Open Sauce Bold"/>
                <a:ea typeface="Open Sauce Bold"/>
                <a:cs typeface="Open Sauce Bold"/>
                <a:sym typeface="Open Sauce Bold"/>
              </a:rPr>
              <a:t>Índice</a:t>
            </a:r>
          </a:p>
        </p:txBody>
      </p:sp>
      <p:sp>
        <p:nvSpPr>
          <p:cNvPr name="TextBox 3" id="3"/>
          <p:cNvSpPr txBox="true"/>
          <p:nvPr/>
        </p:nvSpPr>
        <p:spPr>
          <a:xfrm rot="0">
            <a:off x="6190981" y="1879883"/>
            <a:ext cx="5906038" cy="7003760"/>
          </a:xfrm>
          <a:prstGeom prst="rect">
            <a:avLst/>
          </a:prstGeom>
        </p:spPr>
        <p:txBody>
          <a:bodyPr anchor="t" rtlCol="false" tIns="0" lIns="0" bIns="0" rIns="0">
            <a:spAutoFit/>
          </a:bodyPr>
          <a:lstStyle/>
          <a:p>
            <a:pPr algn="just" marL="500206" indent="-250103" lvl="1">
              <a:lnSpc>
                <a:spcPts val="4332"/>
              </a:lnSpc>
              <a:buFont typeface="Arial"/>
              <a:buChar char="•"/>
            </a:pPr>
            <a:r>
              <a:rPr lang="en-US" sz="2316">
                <a:solidFill>
                  <a:srgbClr val="000000"/>
                </a:solidFill>
                <a:latin typeface="Open Sauce"/>
                <a:ea typeface="Open Sauce"/>
                <a:cs typeface="Open Sauce"/>
                <a:sym typeface="Open Sauce"/>
              </a:rPr>
              <a:t>Introducción.</a:t>
            </a:r>
          </a:p>
          <a:p>
            <a:pPr algn="just" marL="500206" indent="-250103" lvl="1">
              <a:lnSpc>
                <a:spcPts val="4332"/>
              </a:lnSpc>
              <a:buFont typeface="Arial"/>
              <a:buChar char="•"/>
            </a:pPr>
            <a:r>
              <a:rPr lang="en-US" sz="2316">
                <a:solidFill>
                  <a:srgbClr val="000000"/>
                </a:solidFill>
                <a:latin typeface="Open Sauce"/>
                <a:ea typeface="Open Sauce"/>
                <a:cs typeface="Open Sauce"/>
                <a:sym typeface="Open Sauce"/>
              </a:rPr>
              <a:t>Contexto.</a:t>
            </a:r>
          </a:p>
          <a:p>
            <a:pPr algn="just" marL="500206" indent="-250103" lvl="1">
              <a:lnSpc>
                <a:spcPts val="4332"/>
              </a:lnSpc>
              <a:buFont typeface="Arial"/>
              <a:buChar char="•"/>
            </a:pPr>
            <a:r>
              <a:rPr lang="en-US" sz="2316">
                <a:solidFill>
                  <a:srgbClr val="000000"/>
                </a:solidFill>
                <a:latin typeface="Open Sauce"/>
                <a:ea typeface="Open Sauce"/>
                <a:cs typeface="Open Sauce"/>
                <a:sym typeface="Open Sauce"/>
              </a:rPr>
              <a:t>Problemática.</a:t>
            </a:r>
          </a:p>
          <a:p>
            <a:pPr algn="just" marL="500206" indent="-250103" lvl="1">
              <a:lnSpc>
                <a:spcPts val="4332"/>
              </a:lnSpc>
              <a:buFont typeface="Arial"/>
              <a:buChar char="•"/>
            </a:pPr>
            <a:r>
              <a:rPr lang="en-US" sz="2316">
                <a:solidFill>
                  <a:srgbClr val="000000"/>
                </a:solidFill>
                <a:latin typeface="Open Sauce"/>
                <a:ea typeface="Open Sauce"/>
                <a:cs typeface="Open Sauce"/>
                <a:sym typeface="Open Sauce"/>
              </a:rPr>
              <a:t>Solución.</a:t>
            </a:r>
          </a:p>
          <a:p>
            <a:pPr algn="just" marL="500206" indent="-250103" lvl="1">
              <a:lnSpc>
                <a:spcPts val="4332"/>
              </a:lnSpc>
              <a:buFont typeface="Arial"/>
              <a:buChar char="•"/>
            </a:pPr>
            <a:r>
              <a:rPr lang="en-US" sz="2316">
                <a:solidFill>
                  <a:srgbClr val="000000"/>
                </a:solidFill>
                <a:latin typeface="Open Sauce"/>
                <a:ea typeface="Open Sauce"/>
                <a:cs typeface="Open Sauce"/>
                <a:sym typeface="Open Sauce"/>
              </a:rPr>
              <a:t>Plan inicial.</a:t>
            </a:r>
          </a:p>
          <a:p>
            <a:pPr algn="just" marL="500206" indent="-250103" lvl="1">
              <a:lnSpc>
                <a:spcPts val="4332"/>
              </a:lnSpc>
              <a:buFont typeface="Arial"/>
              <a:buChar char="•"/>
            </a:pPr>
            <a:r>
              <a:rPr lang="en-US" sz="2316">
                <a:solidFill>
                  <a:srgbClr val="000000"/>
                </a:solidFill>
                <a:latin typeface="Open Sauce"/>
                <a:ea typeface="Open Sauce"/>
                <a:cs typeface="Open Sauce"/>
                <a:sym typeface="Open Sauce"/>
              </a:rPr>
              <a:t>Plan actual (hitos importantes y modificaciones).</a:t>
            </a:r>
          </a:p>
          <a:p>
            <a:pPr algn="just" marL="500206" indent="-250103" lvl="1">
              <a:lnSpc>
                <a:spcPts val="4332"/>
              </a:lnSpc>
              <a:buFont typeface="Arial"/>
              <a:buChar char="•"/>
            </a:pPr>
            <a:r>
              <a:rPr lang="en-US" sz="2316">
                <a:solidFill>
                  <a:srgbClr val="000000"/>
                </a:solidFill>
                <a:latin typeface="Open Sauce"/>
                <a:ea typeface="Open Sauce"/>
                <a:cs typeface="Open Sauce"/>
                <a:sym typeface="Open Sauce"/>
              </a:rPr>
              <a:t>Arquitectura </a:t>
            </a:r>
          </a:p>
          <a:p>
            <a:pPr algn="just" marL="500206" indent="-250103" lvl="1">
              <a:lnSpc>
                <a:spcPts val="4332"/>
              </a:lnSpc>
              <a:buFont typeface="Arial"/>
              <a:buChar char="•"/>
            </a:pPr>
            <a:r>
              <a:rPr lang="en-US" sz="2316">
                <a:solidFill>
                  <a:srgbClr val="000000"/>
                </a:solidFill>
                <a:latin typeface="Open Sauce"/>
                <a:ea typeface="Open Sauce"/>
                <a:cs typeface="Open Sauce"/>
                <a:sym typeface="Open Sauce"/>
              </a:rPr>
              <a:t>Video.</a:t>
            </a:r>
          </a:p>
          <a:p>
            <a:pPr algn="just" marL="500206" indent="-250103" lvl="1">
              <a:lnSpc>
                <a:spcPts val="4332"/>
              </a:lnSpc>
              <a:buFont typeface="Arial"/>
              <a:buChar char="•"/>
            </a:pPr>
            <a:r>
              <a:rPr lang="en-US" sz="2316">
                <a:solidFill>
                  <a:srgbClr val="000000"/>
                </a:solidFill>
                <a:latin typeface="Open Sauce"/>
                <a:ea typeface="Open Sauce"/>
                <a:cs typeface="Open Sauce"/>
                <a:sym typeface="Open Sauce"/>
              </a:rPr>
              <a:t>Próximos pasos.</a:t>
            </a:r>
          </a:p>
          <a:p>
            <a:pPr algn="just" marL="500206" indent="-250103" lvl="1">
              <a:lnSpc>
                <a:spcPts val="4332"/>
              </a:lnSpc>
              <a:buFont typeface="Arial"/>
              <a:buChar char="•"/>
            </a:pPr>
            <a:r>
              <a:rPr lang="en-US" sz="2316">
                <a:solidFill>
                  <a:srgbClr val="000000"/>
                </a:solidFill>
                <a:latin typeface="Open Sauce"/>
                <a:ea typeface="Open Sauce"/>
                <a:cs typeface="Open Sauce"/>
                <a:sym typeface="Open Sauce"/>
              </a:rPr>
              <a:t>Conclusión.</a:t>
            </a:r>
          </a:p>
          <a:p>
            <a:pPr algn="just">
              <a:lnSpc>
                <a:spcPts val="4332"/>
              </a:lnSpc>
            </a:pPr>
          </a:p>
          <a:p>
            <a:pPr algn="just">
              <a:lnSpc>
                <a:spcPts val="4332"/>
              </a:lnSpc>
            </a:pPr>
          </a:p>
        </p:txBody>
      </p:sp>
      <p:sp>
        <p:nvSpPr>
          <p:cNvPr name="TextBox 4" id="4"/>
          <p:cNvSpPr txBox="true"/>
          <p:nvPr/>
        </p:nvSpPr>
        <p:spPr>
          <a:xfrm rot="0">
            <a:off x="9976160" y="4349027"/>
            <a:ext cx="6822600" cy="244214"/>
          </a:xfrm>
          <a:prstGeom prst="rect">
            <a:avLst/>
          </a:prstGeom>
        </p:spPr>
        <p:txBody>
          <a:bodyPr anchor="t" rtlCol="false" tIns="0" lIns="0" bIns="0" rIns="0">
            <a:spAutoFit/>
          </a:bodyPr>
          <a:lstStyle/>
          <a:p>
            <a:pPr algn="ctr" marL="0" indent="0" lvl="0">
              <a:lnSpc>
                <a:spcPts val="2013"/>
              </a:lnSpc>
              <a:spcBef>
                <a:spcPct val="0"/>
              </a:spcBef>
            </a:pPr>
            <a:r>
              <a:rPr lang="en-US" b="true" sz="1438">
                <a:solidFill>
                  <a:srgbClr val="FFFFFF"/>
                </a:solidFill>
                <a:latin typeface="Open Sauce Bold"/>
                <a:ea typeface="Open Sauce Bold"/>
                <a:cs typeface="Open Sauce Bold"/>
                <a:sym typeface="Open Sauce Bold"/>
              </a:rPr>
              <a:t>Contenido de la presentación</a:t>
            </a:r>
          </a:p>
        </p:txBody>
      </p:sp>
      <p:sp>
        <p:nvSpPr>
          <p:cNvPr name="Freeform 5" id="5"/>
          <p:cNvSpPr/>
          <p:nvPr/>
        </p:nvSpPr>
        <p:spPr>
          <a:xfrm flipH="false" flipV="false" rot="0">
            <a:off x="49720" y="147618"/>
            <a:ext cx="3956253" cy="972579"/>
          </a:xfrm>
          <a:custGeom>
            <a:avLst/>
            <a:gdLst/>
            <a:ahLst/>
            <a:cxnLst/>
            <a:rect r="r" b="b" t="t" l="l"/>
            <a:pathLst>
              <a:path h="972579" w="3956253">
                <a:moveTo>
                  <a:pt x="0" y="0"/>
                </a:moveTo>
                <a:lnTo>
                  <a:pt x="3956253" y="0"/>
                </a:lnTo>
                <a:lnTo>
                  <a:pt x="3956253" y="972579"/>
                </a:lnTo>
                <a:lnTo>
                  <a:pt x="0" y="972579"/>
                </a:lnTo>
                <a:lnTo>
                  <a:pt x="0" y="0"/>
                </a:lnTo>
                <a:close/>
              </a:path>
            </a:pathLst>
          </a:custGeom>
          <a:blipFill>
            <a:blip r:embed="rId2"/>
            <a:stretch>
              <a:fillRect l="0" t="0" r="0" b="0"/>
            </a:stretch>
          </a:blipFill>
        </p:spPr>
      </p:sp>
      <p:sp>
        <p:nvSpPr>
          <p:cNvPr name="Freeform 6" id="6"/>
          <p:cNvSpPr/>
          <p:nvPr/>
        </p:nvSpPr>
        <p:spPr>
          <a:xfrm flipH="false" flipV="false" rot="2700000">
            <a:off x="10013500" y="-155682"/>
            <a:ext cx="11198028" cy="5976948"/>
          </a:xfrm>
          <a:custGeom>
            <a:avLst/>
            <a:gdLst/>
            <a:ahLst/>
            <a:cxnLst/>
            <a:rect r="r" b="b" t="t" l="l"/>
            <a:pathLst>
              <a:path h="5976948" w="11198028">
                <a:moveTo>
                  <a:pt x="0" y="0"/>
                </a:moveTo>
                <a:lnTo>
                  <a:pt x="11198028" y="0"/>
                </a:lnTo>
                <a:lnTo>
                  <a:pt x="11198028" y="5976947"/>
                </a:lnTo>
                <a:lnTo>
                  <a:pt x="0" y="5976947"/>
                </a:lnTo>
                <a:lnTo>
                  <a:pt x="0" y="0"/>
                </a:lnTo>
                <a:close/>
              </a:path>
            </a:pathLst>
          </a:custGeom>
          <a:blipFill>
            <a:blip r:embed="rId3">
              <a:alphaModFix amt="2000"/>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3826200" y="1340043"/>
            <a:ext cx="9392393" cy="812406"/>
          </a:xfrm>
          <a:prstGeom prst="rect">
            <a:avLst/>
          </a:prstGeom>
        </p:spPr>
        <p:txBody>
          <a:bodyPr anchor="t" rtlCol="false" tIns="0" lIns="0" bIns="0" rIns="0">
            <a:spAutoFit/>
          </a:bodyPr>
          <a:lstStyle/>
          <a:p>
            <a:pPr algn="ctr" marL="0" indent="0" lvl="0">
              <a:lnSpc>
                <a:spcPts val="6540"/>
              </a:lnSpc>
            </a:pPr>
            <a:r>
              <a:rPr lang="en-US" b="true" sz="5031">
                <a:solidFill>
                  <a:srgbClr val="0F5995"/>
                </a:solidFill>
                <a:latin typeface="Open Sauce Bold"/>
                <a:ea typeface="Open Sauce Bold"/>
                <a:cs typeface="Open Sauce Bold"/>
                <a:sym typeface="Open Sauce Bold"/>
              </a:rPr>
              <a:t>Introducción</a:t>
            </a:r>
          </a:p>
        </p:txBody>
      </p:sp>
      <p:sp>
        <p:nvSpPr>
          <p:cNvPr name="TextBox 3" id="3"/>
          <p:cNvSpPr txBox="true"/>
          <p:nvPr/>
        </p:nvSpPr>
        <p:spPr>
          <a:xfrm rot="0">
            <a:off x="3264484" y="2823426"/>
            <a:ext cx="10909639" cy="2372787"/>
          </a:xfrm>
          <a:prstGeom prst="rect">
            <a:avLst/>
          </a:prstGeom>
        </p:spPr>
        <p:txBody>
          <a:bodyPr anchor="t" rtlCol="false" tIns="0" lIns="0" bIns="0" rIns="0">
            <a:spAutoFit/>
          </a:bodyPr>
          <a:lstStyle/>
          <a:p>
            <a:pPr algn="ctr" marL="0" indent="0" lvl="0">
              <a:lnSpc>
                <a:spcPts val="3887"/>
              </a:lnSpc>
            </a:pPr>
            <a:r>
              <a:rPr lang="en-US" sz="1934">
                <a:solidFill>
                  <a:srgbClr val="000000"/>
                </a:solidFill>
                <a:latin typeface="Open Sauce"/>
                <a:ea typeface="Open Sauce"/>
                <a:cs typeface="Open Sauce"/>
                <a:sym typeface="Open Sauce"/>
              </a:rPr>
              <a:t>QueakeSignal busca comunicar alertas sísmicas oportunas combinando tecnología, prevención y comunicación efectiva. Su objetivo es apoyar decisiones rápidas ante un terremoto, reduciendo el impacto en vidas y comunidades, el cual busca ser un sistema complementario para el actual sistema de alertas SAE, el dia de hoy se dara a conocer el avanze realizado del proyecto.</a:t>
            </a:r>
          </a:p>
        </p:txBody>
      </p:sp>
      <p:sp>
        <p:nvSpPr>
          <p:cNvPr name="Freeform 4" id="4"/>
          <p:cNvSpPr/>
          <p:nvPr/>
        </p:nvSpPr>
        <p:spPr>
          <a:xfrm flipH="false" flipV="false" rot="203369">
            <a:off x="-4430444" y="7771306"/>
            <a:ext cx="15613996" cy="4079156"/>
          </a:xfrm>
          <a:custGeom>
            <a:avLst/>
            <a:gdLst/>
            <a:ahLst/>
            <a:cxnLst/>
            <a:rect r="r" b="b" t="t" l="l"/>
            <a:pathLst>
              <a:path h="4079156" w="15613996">
                <a:moveTo>
                  <a:pt x="0" y="0"/>
                </a:moveTo>
                <a:lnTo>
                  <a:pt x="15613996" y="0"/>
                </a:lnTo>
                <a:lnTo>
                  <a:pt x="15613996" y="4079157"/>
                </a:lnTo>
                <a:lnTo>
                  <a:pt x="0" y="4079157"/>
                </a:lnTo>
                <a:lnTo>
                  <a:pt x="0" y="0"/>
                </a:lnTo>
                <a:close/>
              </a:path>
            </a:pathLst>
          </a:custGeom>
          <a:blipFill>
            <a:blip r:embed="rId2">
              <a:alphaModFix amt="4000"/>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49720" y="147618"/>
            <a:ext cx="3956253" cy="972579"/>
          </a:xfrm>
          <a:custGeom>
            <a:avLst/>
            <a:gdLst/>
            <a:ahLst/>
            <a:cxnLst/>
            <a:rect r="r" b="b" t="t" l="l"/>
            <a:pathLst>
              <a:path h="972579" w="3956253">
                <a:moveTo>
                  <a:pt x="0" y="0"/>
                </a:moveTo>
                <a:lnTo>
                  <a:pt x="3956253" y="0"/>
                </a:lnTo>
                <a:lnTo>
                  <a:pt x="3956253" y="972579"/>
                </a:lnTo>
                <a:lnTo>
                  <a:pt x="0" y="972579"/>
                </a:lnTo>
                <a:lnTo>
                  <a:pt x="0" y="0"/>
                </a:lnTo>
                <a:close/>
              </a:path>
            </a:pathLst>
          </a:custGeom>
          <a:blipFill>
            <a:blip r:embed="rId4"/>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911603">
            <a:off x="7142788" y="-4696349"/>
            <a:ext cx="20233024" cy="10799376"/>
          </a:xfrm>
          <a:custGeom>
            <a:avLst/>
            <a:gdLst/>
            <a:ahLst/>
            <a:cxnLst/>
            <a:rect r="r" b="b" t="t" l="l"/>
            <a:pathLst>
              <a:path h="10799376" w="20233024">
                <a:moveTo>
                  <a:pt x="0" y="0"/>
                </a:moveTo>
                <a:lnTo>
                  <a:pt x="20233024" y="0"/>
                </a:lnTo>
                <a:lnTo>
                  <a:pt x="20233024" y="10799376"/>
                </a:lnTo>
                <a:lnTo>
                  <a:pt x="0" y="10799376"/>
                </a:lnTo>
                <a:lnTo>
                  <a:pt x="0" y="0"/>
                </a:lnTo>
                <a:close/>
              </a:path>
            </a:pathLst>
          </a:custGeom>
          <a:blipFill>
            <a:blip r:embed="rId2">
              <a:alphaModFix amt="2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601650" y="1324244"/>
            <a:ext cx="12790893" cy="812546"/>
          </a:xfrm>
          <a:prstGeom prst="rect">
            <a:avLst/>
          </a:prstGeom>
        </p:spPr>
        <p:txBody>
          <a:bodyPr anchor="t" rtlCol="false" tIns="0" lIns="0" bIns="0" rIns="0">
            <a:spAutoFit/>
          </a:bodyPr>
          <a:lstStyle/>
          <a:p>
            <a:pPr algn="ctr" marL="0" indent="0" lvl="0">
              <a:lnSpc>
                <a:spcPts val="6525"/>
              </a:lnSpc>
            </a:pPr>
            <a:r>
              <a:rPr lang="en-US" b="true" sz="5019">
                <a:solidFill>
                  <a:srgbClr val="0F5995"/>
                </a:solidFill>
                <a:latin typeface="Open Sauce Bold"/>
                <a:ea typeface="Open Sauce Bold"/>
                <a:cs typeface="Open Sauce Bold"/>
                <a:sym typeface="Open Sauce Bold"/>
              </a:rPr>
              <a:t>Contexto</a:t>
            </a:r>
          </a:p>
        </p:txBody>
      </p:sp>
      <p:sp>
        <p:nvSpPr>
          <p:cNvPr name="TextBox 4" id="4"/>
          <p:cNvSpPr txBox="true"/>
          <p:nvPr/>
        </p:nvSpPr>
        <p:spPr>
          <a:xfrm rot="0">
            <a:off x="4584647" y="2452510"/>
            <a:ext cx="9118707" cy="2073259"/>
          </a:xfrm>
          <a:prstGeom prst="rect">
            <a:avLst/>
          </a:prstGeom>
        </p:spPr>
        <p:txBody>
          <a:bodyPr anchor="t" rtlCol="false" tIns="0" lIns="0" bIns="0" rIns="0">
            <a:spAutoFit/>
          </a:bodyPr>
          <a:lstStyle/>
          <a:p>
            <a:pPr algn="l" marL="0" indent="0" lvl="0">
              <a:lnSpc>
                <a:spcPts val="4231"/>
              </a:lnSpc>
            </a:pPr>
            <a:r>
              <a:rPr lang="en-US" sz="2005">
                <a:solidFill>
                  <a:srgbClr val="000000"/>
                </a:solidFill>
                <a:latin typeface="Open Sauce"/>
                <a:ea typeface="Open Sauce"/>
                <a:cs typeface="Open Sauce"/>
                <a:sym typeface="Open Sauce"/>
              </a:rPr>
              <a:t>Chile es uno de los países más sísmicos del mundo , lo cual significa que contar con alarmas tempranas marca mucho la diferencia para poder salvar vidas, en la actualidad Chile cuenta con SAE (Sistema de Alarma de Emergencia) , sin embargo esta ha sufrido fallos en el ultimo tiempo. </a:t>
            </a:r>
          </a:p>
        </p:txBody>
      </p:sp>
      <p:sp>
        <p:nvSpPr>
          <p:cNvPr name="Freeform 5" id="5"/>
          <p:cNvSpPr/>
          <p:nvPr/>
        </p:nvSpPr>
        <p:spPr>
          <a:xfrm flipH="false" flipV="false" rot="0">
            <a:off x="6477000" y="5095875"/>
            <a:ext cx="1714500" cy="1714500"/>
          </a:xfrm>
          <a:custGeom>
            <a:avLst/>
            <a:gdLst/>
            <a:ahLst/>
            <a:cxnLst/>
            <a:rect r="r" b="b" t="t" l="l"/>
            <a:pathLst>
              <a:path h="1714500" w="1714500">
                <a:moveTo>
                  <a:pt x="0" y="0"/>
                </a:moveTo>
                <a:lnTo>
                  <a:pt x="1714500" y="0"/>
                </a:lnTo>
                <a:lnTo>
                  <a:pt x="1714500" y="1714500"/>
                </a:lnTo>
                <a:lnTo>
                  <a:pt x="0" y="1714500"/>
                </a:lnTo>
                <a:lnTo>
                  <a:pt x="0" y="0"/>
                </a:lnTo>
                <a:close/>
              </a:path>
            </a:pathLst>
          </a:custGeom>
          <a:blipFill>
            <a:blip r:embed="rId4"/>
            <a:stretch>
              <a:fillRect l="0" t="0" r="0" b="0"/>
            </a:stretch>
          </a:blipFill>
        </p:spPr>
      </p:sp>
      <p:sp>
        <p:nvSpPr>
          <p:cNvPr name="Freeform 6" id="6"/>
          <p:cNvSpPr/>
          <p:nvPr/>
        </p:nvSpPr>
        <p:spPr>
          <a:xfrm flipH="false" flipV="false" rot="0">
            <a:off x="8572500" y="5095875"/>
            <a:ext cx="1333500" cy="2667000"/>
          </a:xfrm>
          <a:custGeom>
            <a:avLst/>
            <a:gdLst/>
            <a:ahLst/>
            <a:cxnLst/>
            <a:rect r="r" b="b" t="t" l="l"/>
            <a:pathLst>
              <a:path h="2667000" w="1333500">
                <a:moveTo>
                  <a:pt x="0" y="0"/>
                </a:moveTo>
                <a:lnTo>
                  <a:pt x="1333500" y="0"/>
                </a:lnTo>
                <a:lnTo>
                  <a:pt x="1333500" y="2667000"/>
                </a:lnTo>
                <a:lnTo>
                  <a:pt x="0" y="2667000"/>
                </a:lnTo>
                <a:lnTo>
                  <a:pt x="0" y="0"/>
                </a:lnTo>
                <a:close/>
              </a:path>
            </a:pathLst>
          </a:custGeom>
          <a:blipFill>
            <a:blip r:embed="rId5"/>
            <a:stretch>
              <a:fillRect l="0" t="0" r="0" b="0"/>
            </a:stretch>
          </a:blipFill>
        </p:spPr>
      </p:sp>
      <p:sp>
        <p:nvSpPr>
          <p:cNvPr name="Freeform 7" id="7"/>
          <p:cNvSpPr/>
          <p:nvPr/>
        </p:nvSpPr>
        <p:spPr>
          <a:xfrm flipH="false" flipV="false" rot="0">
            <a:off x="10287000" y="5095875"/>
            <a:ext cx="1524000" cy="1524000"/>
          </a:xfrm>
          <a:custGeom>
            <a:avLst/>
            <a:gdLst/>
            <a:ahLst/>
            <a:cxnLst/>
            <a:rect r="r" b="b" t="t" l="l"/>
            <a:pathLst>
              <a:path h="1524000" w="1524000">
                <a:moveTo>
                  <a:pt x="0" y="0"/>
                </a:moveTo>
                <a:lnTo>
                  <a:pt x="1524000" y="0"/>
                </a:lnTo>
                <a:lnTo>
                  <a:pt x="1524000" y="1524000"/>
                </a:lnTo>
                <a:lnTo>
                  <a:pt x="0" y="1524000"/>
                </a:lnTo>
                <a:lnTo>
                  <a:pt x="0" y="0"/>
                </a:lnTo>
                <a:close/>
              </a:path>
            </a:pathLst>
          </a:custGeom>
          <a:blipFill>
            <a:blip r:embed="rId6"/>
            <a:stretch>
              <a:fillRect l="0" t="0" r="0" b="0"/>
            </a:stretch>
          </a:blipFill>
        </p:spPr>
      </p:sp>
      <p:sp>
        <p:nvSpPr>
          <p:cNvPr name="Freeform 8" id="8"/>
          <p:cNvSpPr/>
          <p:nvPr/>
        </p:nvSpPr>
        <p:spPr>
          <a:xfrm flipH="false" flipV="false" rot="0">
            <a:off x="16698267" y="1028700"/>
            <a:ext cx="742704" cy="742704"/>
          </a:xfrm>
          <a:custGeom>
            <a:avLst/>
            <a:gdLst/>
            <a:ahLst/>
            <a:cxnLst/>
            <a:rect r="r" b="b" t="t" l="l"/>
            <a:pathLst>
              <a:path h="742704" w="742704">
                <a:moveTo>
                  <a:pt x="0" y="0"/>
                </a:moveTo>
                <a:lnTo>
                  <a:pt x="742704" y="0"/>
                </a:lnTo>
                <a:lnTo>
                  <a:pt x="742704" y="742704"/>
                </a:lnTo>
                <a:lnTo>
                  <a:pt x="0" y="74270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49720" y="147618"/>
            <a:ext cx="3956253" cy="972579"/>
          </a:xfrm>
          <a:custGeom>
            <a:avLst/>
            <a:gdLst/>
            <a:ahLst/>
            <a:cxnLst/>
            <a:rect r="r" b="b" t="t" l="l"/>
            <a:pathLst>
              <a:path h="972579" w="3956253">
                <a:moveTo>
                  <a:pt x="0" y="0"/>
                </a:moveTo>
                <a:lnTo>
                  <a:pt x="3956253" y="0"/>
                </a:lnTo>
                <a:lnTo>
                  <a:pt x="3956253" y="972579"/>
                </a:lnTo>
                <a:lnTo>
                  <a:pt x="0" y="972579"/>
                </a:lnTo>
                <a:lnTo>
                  <a:pt x="0" y="0"/>
                </a:lnTo>
                <a:close/>
              </a:path>
            </a:pathLst>
          </a:custGeom>
          <a:blipFill>
            <a:blip r:embed="rId9"/>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9720" y="147618"/>
            <a:ext cx="3956253" cy="972579"/>
          </a:xfrm>
          <a:custGeom>
            <a:avLst/>
            <a:gdLst/>
            <a:ahLst/>
            <a:cxnLst/>
            <a:rect r="r" b="b" t="t" l="l"/>
            <a:pathLst>
              <a:path h="972579" w="3956253">
                <a:moveTo>
                  <a:pt x="0" y="0"/>
                </a:moveTo>
                <a:lnTo>
                  <a:pt x="3956253" y="0"/>
                </a:lnTo>
                <a:lnTo>
                  <a:pt x="3956253" y="972579"/>
                </a:lnTo>
                <a:lnTo>
                  <a:pt x="0" y="972579"/>
                </a:lnTo>
                <a:lnTo>
                  <a:pt x="0" y="0"/>
                </a:lnTo>
                <a:close/>
              </a:path>
            </a:pathLst>
          </a:custGeom>
          <a:blipFill>
            <a:blip r:embed="rId2"/>
            <a:stretch>
              <a:fillRect l="0" t="0" r="0" b="0"/>
            </a:stretch>
          </a:blipFill>
        </p:spPr>
      </p:sp>
      <p:grpSp>
        <p:nvGrpSpPr>
          <p:cNvPr name="Group 3" id="3"/>
          <p:cNvGrpSpPr/>
          <p:nvPr/>
        </p:nvGrpSpPr>
        <p:grpSpPr>
          <a:xfrm rot="0">
            <a:off x="781050" y="2143125"/>
            <a:ext cx="7764221" cy="6191250"/>
            <a:chOff x="0" y="0"/>
            <a:chExt cx="10352294" cy="8255000"/>
          </a:xfrm>
        </p:grpSpPr>
        <p:sp>
          <p:nvSpPr>
            <p:cNvPr name="Freeform 4" id="4"/>
            <p:cNvSpPr/>
            <p:nvPr/>
          </p:nvSpPr>
          <p:spPr>
            <a:xfrm flipH="false" flipV="false" rot="0">
              <a:off x="0" y="0"/>
              <a:ext cx="10352294" cy="8255000"/>
            </a:xfrm>
            <a:custGeom>
              <a:avLst/>
              <a:gdLst/>
              <a:ahLst/>
              <a:cxnLst/>
              <a:rect r="r" b="b" t="t" l="l"/>
              <a:pathLst>
                <a:path h="8255000" w="10352294">
                  <a:moveTo>
                    <a:pt x="174155" y="0"/>
                  </a:moveTo>
                  <a:lnTo>
                    <a:pt x="10178139" y="0"/>
                  </a:lnTo>
                  <a:cubicBezTo>
                    <a:pt x="10274322" y="0"/>
                    <a:pt x="10352294" y="77972"/>
                    <a:pt x="10352294" y="174155"/>
                  </a:cubicBezTo>
                  <a:lnTo>
                    <a:pt x="10352294" y="8080846"/>
                  </a:lnTo>
                  <a:cubicBezTo>
                    <a:pt x="10352294" y="8177028"/>
                    <a:pt x="10274322" y="8255000"/>
                    <a:pt x="10178139" y="8255000"/>
                  </a:cubicBezTo>
                  <a:lnTo>
                    <a:pt x="174155" y="8255000"/>
                  </a:lnTo>
                  <a:cubicBezTo>
                    <a:pt x="77972" y="8255000"/>
                    <a:pt x="0" y="8177028"/>
                    <a:pt x="0" y="8080846"/>
                  </a:cubicBezTo>
                  <a:lnTo>
                    <a:pt x="0" y="174155"/>
                  </a:lnTo>
                  <a:cubicBezTo>
                    <a:pt x="0" y="77972"/>
                    <a:pt x="77972" y="0"/>
                    <a:pt x="174155" y="0"/>
                  </a:cubicBezTo>
                  <a:close/>
                </a:path>
              </a:pathLst>
            </a:custGeom>
            <a:solidFill>
              <a:srgbClr val="F7FAFC"/>
            </a:solidFill>
            <a:ln w="9525" cap="sq">
              <a:solidFill>
                <a:srgbClr val="B9D4E4"/>
              </a:solidFill>
              <a:prstDash val="solid"/>
              <a:miter/>
            </a:ln>
          </p:spPr>
        </p:sp>
        <p:sp>
          <p:nvSpPr>
            <p:cNvPr name="TextBox 5" id="5"/>
            <p:cNvSpPr txBox="true"/>
            <p:nvPr/>
          </p:nvSpPr>
          <p:spPr>
            <a:xfrm>
              <a:off x="0" y="-38100"/>
              <a:ext cx="10352294" cy="8293100"/>
            </a:xfrm>
            <a:prstGeom prst="rect">
              <a:avLst/>
            </a:prstGeom>
          </p:spPr>
          <p:txBody>
            <a:bodyPr anchor="ctr" rtlCol="false" tIns="50800" lIns="50800" bIns="50800" rIns="50800"/>
            <a:lstStyle/>
            <a:p>
              <a:pPr algn="l">
                <a:lnSpc>
                  <a:spcPts val="1679"/>
                </a:lnSpc>
              </a:pPr>
            </a:p>
          </p:txBody>
        </p:sp>
      </p:grpSp>
      <p:grpSp>
        <p:nvGrpSpPr>
          <p:cNvPr name="Group 6" id="6"/>
          <p:cNvGrpSpPr/>
          <p:nvPr/>
        </p:nvGrpSpPr>
        <p:grpSpPr>
          <a:xfrm rot="0">
            <a:off x="9156884" y="2143125"/>
            <a:ext cx="8016691" cy="6191250"/>
            <a:chOff x="0" y="0"/>
            <a:chExt cx="10688922" cy="8255000"/>
          </a:xfrm>
        </p:grpSpPr>
        <p:sp>
          <p:nvSpPr>
            <p:cNvPr name="Freeform 7" id="7"/>
            <p:cNvSpPr/>
            <p:nvPr/>
          </p:nvSpPr>
          <p:spPr>
            <a:xfrm flipH="false" flipV="false" rot="0">
              <a:off x="0" y="0"/>
              <a:ext cx="10688922" cy="8255000"/>
            </a:xfrm>
            <a:custGeom>
              <a:avLst/>
              <a:gdLst/>
              <a:ahLst/>
              <a:cxnLst/>
              <a:rect r="r" b="b" t="t" l="l"/>
              <a:pathLst>
                <a:path h="8255000" w="10688922">
                  <a:moveTo>
                    <a:pt x="278672" y="0"/>
                  </a:moveTo>
                  <a:lnTo>
                    <a:pt x="10410250" y="0"/>
                  </a:lnTo>
                  <a:cubicBezTo>
                    <a:pt x="10564156" y="0"/>
                    <a:pt x="10688922" y="124766"/>
                    <a:pt x="10688922" y="278672"/>
                  </a:cubicBezTo>
                  <a:lnTo>
                    <a:pt x="10688922" y="7976328"/>
                  </a:lnTo>
                  <a:cubicBezTo>
                    <a:pt x="10688922" y="8050237"/>
                    <a:pt x="10659562" y="8121117"/>
                    <a:pt x="10607301" y="8173379"/>
                  </a:cubicBezTo>
                  <a:cubicBezTo>
                    <a:pt x="10555039" y="8225640"/>
                    <a:pt x="10484159" y="8255000"/>
                    <a:pt x="10410250" y="8255000"/>
                  </a:cubicBezTo>
                  <a:lnTo>
                    <a:pt x="278672" y="8255000"/>
                  </a:lnTo>
                  <a:cubicBezTo>
                    <a:pt x="204764" y="8255000"/>
                    <a:pt x="133882" y="8225640"/>
                    <a:pt x="81621" y="8173379"/>
                  </a:cubicBezTo>
                  <a:cubicBezTo>
                    <a:pt x="29360" y="8121117"/>
                    <a:pt x="0" y="8050237"/>
                    <a:pt x="0" y="7976328"/>
                  </a:cubicBezTo>
                  <a:lnTo>
                    <a:pt x="0" y="278672"/>
                  </a:lnTo>
                  <a:cubicBezTo>
                    <a:pt x="0" y="204764"/>
                    <a:pt x="29360" y="133882"/>
                    <a:pt x="81621" y="81621"/>
                  </a:cubicBezTo>
                  <a:cubicBezTo>
                    <a:pt x="133882" y="29360"/>
                    <a:pt x="204764" y="0"/>
                    <a:pt x="278672" y="0"/>
                  </a:cubicBezTo>
                  <a:close/>
                </a:path>
              </a:pathLst>
            </a:custGeom>
            <a:solidFill>
              <a:srgbClr val="F7FAFC"/>
            </a:solidFill>
            <a:ln w="9525" cap="sq">
              <a:solidFill>
                <a:srgbClr val="B9D4E4"/>
              </a:solidFill>
              <a:prstDash val="solid"/>
              <a:miter/>
            </a:ln>
          </p:spPr>
        </p:sp>
        <p:sp>
          <p:nvSpPr>
            <p:cNvPr name="TextBox 8" id="8"/>
            <p:cNvSpPr txBox="true"/>
            <p:nvPr/>
          </p:nvSpPr>
          <p:spPr>
            <a:xfrm>
              <a:off x="0" y="-38100"/>
              <a:ext cx="10688922" cy="8293100"/>
            </a:xfrm>
            <a:prstGeom prst="rect">
              <a:avLst/>
            </a:prstGeom>
          </p:spPr>
          <p:txBody>
            <a:bodyPr anchor="ctr" rtlCol="false" tIns="50800" lIns="50800" bIns="50800" rIns="50800"/>
            <a:lstStyle/>
            <a:p>
              <a:pPr algn="l">
                <a:lnSpc>
                  <a:spcPts val="1679"/>
                </a:lnSpc>
              </a:pPr>
            </a:p>
          </p:txBody>
        </p:sp>
      </p:grpSp>
      <p:grpSp>
        <p:nvGrpSpPr>
          <p:cNvPr name="Group 9" id="9"/>
          <p:cNvGrpSpPr/>
          <p:nvPr/>
        </p:nvGrpSpPr>
        <p:grpSpPr>
          <a:xfrm rot="0">
            <a:off x="781050" y="2409825"/>
            <a:ext cx="76200" cy="1047750"/>
            <a:chOff x="0" y="0"/>
            <a:chExt cx="101600" cy="1397000"/>
          </a:xfrm>
        </p:grpSpPr>
        <p:sp>
          <p:nvSpPr>
            <p:cNvPr name="Freeform 10" id="10"/>
            <p:cNvSpPr/>
            <p:nvPr/>
          </p:nvSpPr>
          <p:spPr>
            <a:xfrm flipH="false" flipV="false" rot="0">
              <a:off x="0" y="0"/>
              <a:ext cx="101600" cy="1397000"/>
            </a:xfrm>
            <a:custGeom>
              <a:avLst/>
              <a:gdLst/>
              <a:ahLst/>
              <a:cxnLst/>
              <a:rect r="r" b="b" t="t" l="l"/>
              <a:pathLst>
                <a:path h="1397000" w="101600">
                  <a:moveTo>
                    <a:pt x="50800" y="0"/>
                  </a:moveTo>
                  <a:lnTo>
                    <a:pt x="50800" y="0"/>
                  </a:lnTo>
                  <a:cubicBezTo>
                    <a:pt x="78856" y="0"/>
                    <a:pt x="101600" y="22744"/>
                    <a:pt x="101600" y="50800"/>
                  </a:cubicBezTo>
                  <a:lnTo>
                    <a:pt x="101600" y="1346200"/>
                  </a:lnTo>
                  <a:cubicBezTo>
                    <a:pt x="101600" y="1374256"/>
                    <a:pt x="78856" y="1397000"/>
                    <a:pt x="50800" y="1397000"/>
                  </a:cubicBezTo>
                  <a:lnTo>
                    <a:pt x="50800" y="1397000"/>
                  </a:lnTo>
                  <a:cubicBezTo>
                    <a:pt x="22744" y="1397000"/>
                    <a:pt x="0" y="1374256"/>
                    <a:pt x="0" y="1346200"/>
                  </a:cubicBezTo>
                  <a:lnTo>
                    <a:pt x="0" y="50800"/>
                  </a:lnTo>
                  <a:cubicBezTo>
                    <a:pt x="0" y="22744"/>
                    <a:pt x="22744" y="0"/>
                    <a:pt x="50800" y="0"/>
                  </a:cubicBezTo>
                  <a:close/>
                </a:path>
              </a:pathLst>
            </a:custGeom>
            <a:solidFill>
              <a:srgbClr val="0F5995"/>
            </a:solidFill>
          </p:spPr>
        </p:sp>
        <p:sp>
          <p:nvSpPr>
            <p:cNvPr name="TextBox 11" id="11"/>
            <p:cNvSpPr txBox="true"/>
            <p:nvPr/>
          </p:nvSpPr>
          <p:spPr>
            <a:xfrm>
              <a:off x="0" y="-38100"/>
              <a:ext cx="101600" cy="1435100"/>
            </a:xfrm>
            <a:prstGeom prst="rect">
              <a:avLst/>
            </a:prstGeom>
          </p:spPr>
          <p:txBody>
            <a:bodyPr anchor="ctr" rtlCol="false" tIns="50800" lIns="50800" bIns="50800" rIns="50800"/>
            <a:lstStyle/>
            <a:p>
              <a:pPr algn="l">
                <a:lnSpc>
                  <a:spcPts val="1679"/>
                </a:lnSpc>
              </a:pPr>
            </a:p>
          </p:txBody>
        </p:sp>
      </p:grpSp>
      <p:grpSp>
        <p:nvGrpSpPr>
          <p:cNvPr name="Group 12" id="12"/>
          <p:cNvGrpSpPr/>
          <p:nvPr/>
        </p:nvGrpSpPr>
        <p:grpSpPr>
          <a:xfrm rot="0">
            <a:off x="9156884" y="2383790"/>
            <a:ext cx="76200" cy="1047750"/>
            <a:chOff x="0" y="0"/>
            <a:chExt cx="101600" cy="1397000"/>
          </a:xfrm>
        </p:grpSpPr>
        <p:sp>
          <p:nvSpPr>
            <p:cNvPr name="Freeform 13" id="13"/>
            <p:cNvSpPr/>
            <p:nvPr/>
          </p:nvSpPr>
          <p:spPr>
            <a:xfrm flipH="false" flipV="false" rot="0">
              <a:off x="0" y="0"/>
              <a:ext cx="101600" cy="1397000"/>
            </a:xfrm>
            <a:custGeom>
              <a:avLst/>
              <a:gdLst/>
              <a:ahLst/>
              <a:cxnLst/>
              <a:rect r="r" b="b" t="t" l="l"/>
              <a:pathLst>
                <a:path h="1397000" w="101600">
                  <a:moveTo>
                    <a:pt x="50800" y="0"/>
                  </a:moveTo>
                  <a:lnTo>
                    <a:pt x="50800" y="0"/>
                  </a:lnTo>
                  <a:cubicBezTo>
                    <a:pt x="78856" y="0"/>
                    <a:pt x="101600" y="22744"/>
                    <a:pt x="101600" y="50800"/>
                  </a:cubicBezTo>
                  <a:lnTo>
                    <a:pt x="101600" y="1346200"/>
                  </a:lnTo>
                  <a:cubicBezTo>
                    <a:pt x="101600" y="1374256"/>
                    <a:pt x="78856" y="1397000"/>
                    <a:pt x="50800" y="1397000"/>
                  </a:cubicBezTo>
                  <a:lnTo>
                    <a:pt x="50800" y="1397000"/>
                  </a:lnTo>
                  <a:cubicBezTo>
                    <a:pt x="22744" y="1397000"/>
                    <a:pt x="0" y="1374256"/>
                    <a:pt x="0" y="1346200"/>
                  </a:cubicBezTo>
                  <a:lnTo>
                    <a:pt x="0" y="50800"/>
                  </a:lnTo>
                  <a:cubicBezTo>
                    <a:pt x="0" y="22744"/>
                    <a:pt x="22744" y="0"/>
                    <a:pt x="50800" y="0"/>
                  </a:cubicBezTo>
                  <a:close/>
                </a:path>
              </a:pathLst>
            </a:custGeom>
            <a:solidFill>
              <a:srgbClr val="0F5995"/>
            </a:solidFill>
          </p:spPr>
        </p:sp>
        <p:sp>
          <p:nvSpPr>
            <p:cNvPr name="TextBox 14" id="14"/>
            <p:cNvSpPr txBox="true"/>
            <p:nvPr/>
          </p:nvSpPr>
          <p:spPr>
            <a:xfrm>
              <a:off x="0" y="-38100"/>
              <a:ext cx="101600" cy="1435100"/>
            </a:xfrm>
            <a:prstGeom prst="rect">
              <a:avLst/>
            </a:prstGeom>
          </p:spPr>
          <p:txBody>
            <a:bodyPr anchor="ctr" rtlCol="false" tIns="50800" lIns="50800" bIns="50800" rIns="50800"/>
            <a:lstStyle/>
            <a:p>
              <a:pPr algn="l">
                <a:lnSpc>
                  <a:spcPts val="1679"/>
                </a:lnSpc>
              </a:pPr>
            </a:p>
          </p:txBody>
        </p:sp>
      </p:grpSp>
      <p:sp>
        <p:nvSpPr>
          <p:cNvPr name="TextBox 15" id="15"/>
          <p:cNvSpPr txBox="true"/>
          <p:nvPr/>
        </p:nvSpPr>
        <p:spPr>
          <a:xfrm rot="0">
            <a:off x="6926638" y="7587802"/>
            <a:ext cx="8597226" cy="201039"/>
          </a:xfrm>
          <a:prstGeom prst="rect">
            <a:avLst/>
          </a:prstGeom>
        </p:spPr>
        <p:txBody>
          <a:bodyPr anchor="t" rtlCol="false" tIns="0" lIns="0" bIns="0" rIns="0">
            <a:spAutoFit/>
          </a:bodyPr>
          <a:lstStyle/>
          <a:p>
            <a:pPr algn="ctr">
              <a:lnSpc>
                <a:spcPts val="1693"/>
              </a:lnSpc>
            </a:pPr>
            <a:r>
              <a:rPr lang="en-US" sz="1209" b="true">
                <a:solidFill>
                  <a:srgbClr val="0F5995"/>
                </a:solidFill>
                <a:latin typeface="Open Sauce Bold"/>
                <a:ea typeface="Open Sauce Bold"/>
                <a:cs typeface="Open Sauce Bold"/>
                <a:sym typeface="Open Sauce Bold"/>
              </a:rPr>
              <a:t>Alerta física mediante dispositivo ESP32</a:t>
            </a:r>
          </a:p>
        </p:txBody>
      </p:sp>
      <p:sp>
        <p:nvSpPr>
          <p:cNvPr name="Freeform 16" id="16"/>
          <p:cNvSpPr/>
          <p:nvPr/>
        </p:nvSpPr>
        <p:spPr>
          <a:xfrm flipH="false" flipV="false" rot="0">
            <a:off x="12686809" y="6329058"/>
            <a:ext cx="3454023" cy="1831436"/>
          </a:xfrm>
          <a:custGeom>
            <a:avLst/>
            <a:gdLst/>
            <a:ahLst/>
            <a:cxnLst/>
            <a:rect r="r" b="b" t="t" l="l"/>
            <a:pathLst>
              <a:path h="1831436" w="3454023">
                <a:moveTo>
                  <a:pt x="0" y="0"/>
                </a:moveTo>
                <a:lnTo>
                  <a:pt x="3454024" y="0"/>
                </a:lnTo>
                <a:lnTo>
                  <a:pt x="3454024" y="1831435"/>
                </a:lnTo>
                <a:lnTo>
                  <a:pt x="0" y="1831435"/>
                </a:lnTo>
                <a:lnTo>
                  <a:pt x="0" y="0"/>
                </a:lnTo>
                <a:close/>
              </a:path>
            </a:pathLst>
          </a:custGeom>
          <a:blipFill>
            <a:blip r:embed="rId3"/>
            <a:stretch>
              <a:fillRect l="-137" t="0" r="-16416" b="-16228"/>
            </a:stretch>
          </a:blipFill>
        </p:spPr>
      </p:sp>
      <p:sp>
        <p:nvSpPr>
          <p:cNvPr name="Freeform 17" id="17"/>
          <p:cNvSpPr/>
          <p:nvPr/>
        </p:nvSpPr>
        <p:spPr>
          <a:xfrm flipH="false" flipV="false" rot="0">
            <a:off x="5329063" y="5796218"/>
            <a:ext cx="2114823" cy="2114823"/>
          </a:xfrm>
          <a:custGeom>
            <a:avLst/>
            <a:gdLst/>
            <a:ahLst/>
            <a:cxnLst/>
            <a:rect r="r" b="b" t="t" l="l"/>
            <a:pathLst>
              <a:path h="2114823" w="2114823">
                <a:moveTo>
                  <a:pt x="0" y="0"/>
                </a:moveTo>
                <a:lnTo>
                  <a:pt x="2114823" y="0"/>
                </a:lnTo>
                <a:lnTo>
                  <a:pt x="2114823" y="2114823"/>
                </a:lnTo>
                <a:lnTo>
                  <a:pt x="0" y="2114823"/>
                </a:lnTo>
                <a:lnTo>
                  <a:pt x="0" y="0"/>
                </a:lnTo>
                <a:close/>
              </a:path>
            </a:pathLst>
          </a:custGeom>
          <a:blipFill>
            <a:blip r:embed="rId4"/>
            <a:stretch>
              <a:fillRect l="0" t="0" r="0" b="0"/>
            </a:stretch>
          </a:blipFill>
        </p:spPr>
      </p:sp>
      <p:sp>
        <p:nvSpPr>
          <p:cNvPr name="Freeform 18" id="18"/>
          <p:cNvSpPr/>
          <p:nvPr/>
        </p:nvSpPr>
        <p:spPr>
          <a:xfrm flipH="false" flipV="false" rot="0">
            <a:off x="2236711" y="5873915"/>
            <a:ext cx="2109602" cy="1845902"/>
          </a:xfrm>
          <a:custGeom>
            <a:avLst/>
            <a:gdLst/>
            <a:ahLst/>
            <a:cxnLst/>
            <a:rect r="r" b="b" t="t" l="l"/>
            <a:pathLst>
              <a:path h="1845902" w="2109602">
                <a:moveTo>
                  <a:pt x="0" y="0"/>
                </a:moveTo>
                <a:lnTo>
                  <a:pt x="2109602" y="0"/>
                </a:lnTo>
                <a:lnTo>
                  <a:pt x="2109602" y="1845902"/>
                </a:lnTo>
                <a:lnTo>
                  <a:pt x="0" y="184590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9" id="19"/>
          <p:cNvSpPr txBox="true"/>
          <p:nvPr/>
        </p:nvSpPr>
        <p:spPr>
          <a:xfrm rot="0">
            <a:off x="1047750" y="1562100"/>
            <a:ext cx="5381625" cy="497840"/>
          </a:xfrm>
          <a:prstGeom prst="rect">
            <a:avLst/>
          </a:prstGeom>
        </p:spPr>
        <p:txBody>
          <a:bodyPr anchor="t" rtlCol="false" tIns="0" lIns="0" bIns="0" rIns="0">
            <a:spAutoFit/>
          </a:bodyPr>
          <a:lstStyle/>
          <a:p>
            <a:pPr algn="l">
              <a:lnSpc>
                <a:spcPts val="4060"/>
              </a:lnSpc>
            </a:pPr>
            <a:r>
              <a:rPr lang="en-US" sz="2900" b="true">
                <a:solidFill>
                  <a:srgbClr val="0F5995"/>
                </a:solidFill>
                <a:latin typeface="Open Sauce Bold"/>
                <a:ea typeface="Open Sauce Bold"/>
                <a:cs typeface="Open Sauce Bold"/>
                <a:sym typeface="Open Sauce Bold"/>
              </a:rPr>
              <a:t>Problemática</a:t>
            </a:r>
          </a:p>
        </p:txBody>
      </p:sp>
      <p:sp>
        <p:nvSpPr>
          <p:cNvPr name="TextBox 20" id="20"/>
          <p:cNvSpPr txBox="true"/>
          <p:nvPr/>
        </p:nvSpPr>
        <p:spPr>
          <a:xfrm rot="0">
            <a:off x="9156884" y="1562100"/>
            <a:ext cx="9239250" cy="497840"/>
          </a:xfrm>
          <a:prstGeom prst="rect">
            <a:avLst/>
          </a:prstGeom>
        </p:spPr>
        <p:txBody>
          <a:bodyPr anchor="t" rtlCol="false" tIns="0" lIns="0" bIns="0" rIns="0">
            <a:spAutoFit/>
          </a:bodyPr>
          <a:lstStyle/>
          <a:p>
            <a:pPr algn="l">
              <a:lnSpc>
                <a:spcPts val="4060"/>
              </a:lnSpc>
            </a:pPr>
            <a:r>
              <a:rPr lang="en-US" sz="2900" b="true">
                <a:solidFill>
                  <a:srgbClr val="0F5995"/>
                </a:solidFill>
                <a:latin typeface="Open Sauce Bold"/>
                <a:ea typeface="Open Sauce Bold"/>
                <a:cs typeface="Open Sauce Bold"/>
                <a:sym typeface="Open Sauce Bold"/>
              </a:rPr>
              <a:t>Solución</a:t>
            </a:r>
          </a:p>
        </p:txBody>
      </p:sp>
      <p:sp>
        <p:nvSpPr>
          <p:cNvPr name="TextBox 21" id="21"/>
          <p:cNvSpPr txBox="true"/>
          <p:nvPr/>
        </p:nvSpPr>
        <p:spPr>
          <a:xfrm rot="0">
            <a:off x="1047750" y="2250440"/>
            <a:ext cx="7261899" cy="3091053"/>
          </a:xfrm>
          <a:prstGeom prst="rect">
            <a:avLst/>
          </a:prstGeom>
        </p:spPr>
        <p:txBody>
          <a:bodyPr anchor="t" rtlCol="false" tIns="0" lIns="0" bIns="0" rIns="0">
            <a:spAutoFit/>
          </a:bodyPr>
          <a:lstStyle/>
          <a:p>
            <a:pPr algn="l">
              <a:lnSpc>
                <a:spcPts val="3546"/>
              </a:lnSpc>
            </a:pPr>
            <a:r>
              <a:rPr lang="en-US" sz="1800">
                <a:solidFill>
                  <a:srgbClr val="243746"/>
                </a:solidFill>
                <a:latin typeface="Open Sauce"/>
                <a:ea typeface="Open Sauce"/>
                <a:cs typeface="Open Sauce"/>
                <a:sym typeface="Open Sauce"/>
              </a:rPr>
              <a:t>Chile y Sudamérica enfrentan un alto riesgo sísmico, lo que exige notificaciones oportunas a la población. Sin embargo, el Sistema de Alerta de Emergencias (SAE) de Chile presenta fallas críticas: sufre retrasos y menor conectividad en sectores de bajos ingresos, y deja de funcionar en zonas donde incendios forestales han dañado la infraestructura eléctrica,ante esta problematica  se ve la necesidad de servicios complementarios.</a:t>
            </a:r>
          </a:p>
        </p:txBody>
      </p:sp>
      <p:sp>
        <p:nvSpPr>
          <p:cNvPr name="TextBox 22" id="22"/>
          <p:cNvSpPr txBox="true"/>
          <p:nvPr/>
        </p:nvSpPr>
        <p:spPr>
          <a:xfrm rot="0">
            <a:off x="9423584" y="2187679"/>
            <a:ext cx="7188042" cy="4067240"/>
          </a:xfrm>
          <a:prstGeom prst="rect">
            <a:avLst/>
          </a:prstGeom>
        </p:spPr>
        <p:txBody>
          <a:bodyPr anchor="t" rtlCol="false" tIns="0" lIns="0" bIns="0" rIns="0">
            <a:spAutoFit/>
          </a:bodyPr>
          <a:lstStyle/>
          <a:p>
            <a:pPr algn="l">
              <a:lnSpc>
                <a:spcPts val="3644"/>
              </a:lnSpc>
            </a:pPr>
            <a:r>
              <a:rPr lang="en-US" sz="1849">
                <a:solidFill>
                  <a:srgbClr val="4A4A4A"/>
                </a:solidFill>
                <a:latin typeface="Open Sauce"/>
                <a:ea typeface="Open Sauce"/>
                <a:cs typeface="Open Sauce"/>
                <a:sym typeface="Open Sauce"/>
              </a:rPr>
              <a:t>Nuestra solución consiste en un sistema de alertas híbrido, en el cual, por medio de un dashboard, se reciben alertas mediante una API o se presiona un botón de pánico manual. De esta forma, se da aviso de la emergencia, donde un programa se encargará de revisar cada cierto tiempo si hay una nueva emergencia. Una vez que detecte una nueva emergencia, se notificará por dos vías: un bot de Telegram que mostrará una notificación push y una alerta física por medio de un dispositivo ESP32.</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2759686" y="0"/>
            <a:ext cx="6499679" cy="2485706"/>
          </a:xfrm>
          <a:custGeom>
            <a:avLst/>
            <a:gdLst/>
            <a:ahLst/>
            <a:cxnLst/>
            <a:rect r="r" b="b" t="t" l="l"/>
            <a:pathLst>
              <a:path h="2485706" w="6499679">
                <a:moveTo>
                  <a:pt x="6499678" y="2485706"/>
                </a:moveTo>
                <a:lnTo>
                  <a:pt x="0" y="2485706"/>
                </a:lnTo>
                <a:lnTo>
                  <a:pt x="0" y="0"/>
                </a:lnTo>
                <a:lnTo>
                  <a:pt x="6499678" y="0"/>
                </a:lnTo>
                <a:lnTo>
                  <a:pt x="6499678" y="2485706"/>
                </a:lnTo>
                <a:close/>
              </a:path>
            </a:pathLst>
          </a:custGeom>
          <a:blipFill>
            <a:blip r:embed="rId2">
              <a:alphaModFix amt="41000"/>
              <a:extLst>
                <a:ext uri="{96DAC541-7B7A-43D3-8B79-37D633B846F1}">
                  <asvg:svgBlip xmlns:asvg="http://schemas.microsoft.com/office/drawing/2016/SVG/main" r:embed="rId3"/>
                </a:ext>
              </a:extLst>
            </a:blip>
            <a:stretch>
              <a:fillRect l="0" t="-79322" r="0" b="-82160"/>
            </a:stretch>
          </a:blipFill>
        </p:spPr>
      </p:sp>
      <p:sp>
        <p:nvSpPr>
          <p:cNvPr name="Freeform 3" id="3"/>
          <p:cNvSpPr/>
          <p:nvPr/>
        </p:nvSpPr>
        <p:spPr>
          <a:xfrm flipH="false" flipV="false" rot="-2484000">
            <a:off x="9072750" y="8816407"/>
            <a:ext cx="15613996" cy="4079156"/>
          </a:xfrm>
          <a:custGeom>
            <a:avLst/>
            <a:gdLst/>
            <a:ahLst/>
            <a:cxnLst/>
            <a:rect r="r" b="b" t="t" l="l"/>
            <a:pathLst>
              <a:path h="4079156" w="15613996">
                <a:moveTo>
                  <a:pt x="0" y="0"/>
                </a:moveTo>
                <a:lnTo>
                  <a:pt x="15613996" y="0"/>
                </a:lnTo>
                <a:lnTo>
                  <a:pt x="15613996" y="4079157"/>
                </a:lnTo>
                <a:lnTo>
                  <a:pt x="0" y="4079157"/>
                </a:lnTo>
                <a:lnTo>
                  <a:pt x="0" y="0"/>
                </a:lnTo>
                <a:close/>
              </a:path>
            </a:pathLst>
          </a:custGeom>
          <a:blipFill>
            <a:blip r:embed="rId4">
              <a:alphaModFix amt="4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49720" y="147618"/>
            <a:ext cx="3811322" cy="936950"/>
          </a:xfrm>
          <a:custGeom>
            <a:avLst/>
            <a:gdLst/>
            <a:ahLst/>
            <a:cxnLst/>
            <a:rect r="r" b="b" t="t" l="l"/>
            <a:pathLst>
              <a:path h="936950" w="3811322">
                <a:moveTo>
                  <a:pt x="0" y="0"/>
                </a:moveTo>
                <a:lnTo>
                  <a:pt x="3811322" y="0"/>
                </a:lnTo>
                <a:lnTo>
                  <a:pt x="3811322" y="936950"/>
                </a:lnTo>
                <a:lnTo>
                  <a:pt x="0" y="936950"/>
                </a:lnTo>
                <a:lnTo>
                  <a:pt x="0" y="0"/>
                </a:lnTo>
                <a:close/>
              </a:path>
            </a:pathLst>
          </a:custGeom>
          <a:blipFill>
            <a:blip r:embed="rId6"/>
            <a:stretch>
              <a:fillRect l="0" t="0" r="0" b="0"/>
            </a:stretch>
          </a:blipFill>
        </p:spPr>
      </p:sp>
      <p:sp>
        <p:nvSpPr>
          <p:cNvPr name="TextBox 5" id="5"/>
          <p:cNvSpPr txBox="true"/>
          <p:nvPr/>
        </p:nvSpPr>
        <p:spPr>
          <a:xfrm rot="0">
            <a:off x="5528314" y="247950"/>
            <a:ext cx="7231372" cy="697391"/>
          </a:xfrm>
          <a:prstGeom prst="rect">
            <a:avLst/>
          </a:prstGeom>
        </p:spPr>
        <p:txBody>
          <a:bodyPr anchor="t" rtlCol="false" tIns="0" lIns="0" bIns="0" rIns="0">
            <a:spAutoFit/>
          </a:bodyPr>
          <a:lstStyle/>
          <a:p>
            <a:pPr algn="ctr" marL="0" indent="0" lvl="0">
              <a:lnSpc>
                <a:spcPts val="5638"/>
              </a:lnSpc>
            </a:pPr>
            <a:r>
              <a:rPr lang="en-US" b="true" sz="4337">
                <a:solidFill>
                  <a:srgbClr val="0F5995"/>
                </a:solidFill>
                <a:latin typeface="Open Sauce Bold"/>
                <a:ea typeface="Open Sauce Bold"/>
                <a:cs typeface="Open Sauce Bold"/>
                <a:sym typeface="Open Sauce Bold"/>
              </a:rPr>
              <a:t>Arquitectura</a:t>
            </a:r>
          </a:p>
        </p:txBody>
      </p:sp>
      <p:pic>
        <p:nvPicPr>
          <p:cNvPr name="Picture 6" id="6"/>
          <p:cNvPicPr>
            <a:picLocks noChangeAspect="true"/>
          </p:cNvPicPr>
          <p:nvPr/>
        </p:nvPicPr>
        <p:blipFill>
          <a:blip r:embed="rId7"/>
          <a:stretch>
            <a:fillRect/>
          </a:stretch>
        </p:blipFill>
        <p:spPr>
          <a:xfrm rot="0">
            <a:off x="-914400" y="-533400"/>
            <a:ext cx="20116800" cy="11925300"/>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32061" y="2817042"/>
            <a:ext cx="10539454" cy="6441258"/>
          </a:xfrm>
          <a:custGeom>
            <a:avLst/>
            <a:gdLst/>
            <a:ahLst/>
            <a:cxnLst/>
            <a:rect r="r" b="b" t="t" l="l"/>
            <a:pathLst>
              <a:path h="6441258" w="10539454">
                <a:moveTo>
                  <a:pt x="0" y="0"/>
                </a:moveTo>
                <a:lnTo>
                  <a:pt x="10539454" y="0"/>
                </a:lnTo>
                <a:lnTo>
                  <a:pt x="10539454" y="6441258"/>
                </a:lnTo>
                <a:lnTo>
                  <a:pt x="0" y="6441258"/>
                </a:lnTo>
                <a:lnTo>
                  <a:pt x="0" y="0"/>
                </a:lnTo>
                <a:close/>
              </a:path>
            </a:pathLst>
          </a:custGeom>
          <a:blipFill>
            <a:blip r:embed="rId2"/>
            <a:stretch>
              <a:fillRect l="0" t="0" r="0" b="0"/>
            </a:stretch>
          </a:blipFill>
        </p:spPr>
      </p:sp>
      <p:sp>
        <p:nvSpPr>
          <p:cNvPr name="TextBox 3" id="3"/>
          <p:cNvSpPr txBox="true"/>
          <p:nvPr/>
        </p:nvSpPr>
        <p:spPr>
          <a:xfrm rot="0">
            <a:off x="2962216" y="1951045"/>
            <a:ext cx="12603035" cy="414502"/>
          </a:xfrm>
          <a:prstGeom prst="rect">
            <a:avLst/>
          </a:prstGeom>
        </p:spPr>
        <p:txBody>
          <a:bodyPr anchor="t" rtlCol="false" tIns="0" lIns="0" bIns="0" rIns="0">
            <a:spAutoFit/>
          </a:bodyPr>
          <a:lstStyle/>
          <a:p>
            <a:pPr algn="just" marL="0" indent="0" lvl="0">
              <a:lnSpc>
                <a:spcPts val="3403"/>
              </a:lnSpc>
              <a:spcBef>
                <a:spcPct val="0"/>
              </a:spcBef>
            </a:pPr>
            <a:r>
              <a:rPr lang="en-US" sz="2431">
                <a:solidFill>
                  <a:srgbClr val="000000"/>
                </a:solidFill>
                <a:latin typeface="Open Sauce"/>
                <a:ea typeface="Open Sauce"/>
                <a:cs typeface="Open Sauce"/>
                <a:sym typeface="Open Sauce"/>
              </a:rPr>
              <a:t>Se utilizara la metodología ágil Kanban , la cual es bastante flexible ante cambios </a:t>
            </a:r>
          </a:p>
        </p:txBody>
      </p:sp>
      <p:sp>
        <p:nvSpPr>
          <p:cNvPr name="TextBox 4" id="4"/>
          <p:cNvSpPr txBox="true"/>
          <p:nvPr/>
        </p:nvSpPr>
        <p:spPr>
          <a:xfrm rot="0">
            <a:off x="4615161" y="617029"/>
            <a:ext cx="10649180" cy="785241"/>
          </a:xfrm>
          <a:prstGeom prst="rect">
            <a:avLst/>
          </a:prstGeom>
        </p:spPr>
        <p:txBody>
          <a:bodyPr anchor="t" rtlCol="false" tIns="0" lIns="0" bIns="0" rIns="0">
            <a:spAutoFit/>
          </a:bodyPr>
          <a:lstStyle/>
          <a:p>
            <a:pPr algn="ctr" marL="0" indent="0" lvl="0">
              <a:lnSpc>
                <a:spcPts val="6395"/>
              </a:lnSpc>
            </a:pPr>
            <a:r>
              <a:rPr lang="en-US" b="true" sz="4919">
                <a:solidFill>
                  <a:srgbClr val="0F5995"/>
                </a:solidFill>
                <a:latin typeface="Open Sauce Bold"/>
                <a:ea typeface="Open Sauce Bold"/>
                <a:cs typeface="Open Sauce Bold"/>
                <a:sym typeface="Open Sauce Bold"/>
              </a:rPr>
              <a:t>Metodología, Plan (Inicial) y Roles</a:t>
            </a:r>
          </a:p>
        </p:txBody>
      </p:sp>
      <p:sp>
        <p:nvSpPr>
          <p:cNvPr name="TextBox 5" id="5"/>
          <p:cNvSpPr txBox="true"/>
          <p:nvPr/>
        </p:nvSpPr>
        <p:spPr>
          <a:xfrm rot="0">
            <a:off x="10837958" y="3177448"/>
            <a:ext cx="6751662" cy="4647609"/>
          </a:xfrm>
          <a:prstGeom prst="rect">
            <a:avLst/>
          </a:prstGeom>
        </p:spPr>
        <p:txBody>
          <a:bodyPr anchor="t" rtlCol="false" tIns="0" lIns="0" bIns="0" rIns="0">
            <a:spAutoFit/>
          </a:bodyPr>
          <a:lstStyle/>
          <a:p>
            <a:pPr algn="just" marL="524860" indent="-262430" lvl="1">
              <a:lnSpc>
                <a:spcPts val="5396"/>
              </a:lnSpc>
              <a:buFont typeface="Arial"/>
              <a:buChar char="•"/>
            </a:pPr>
            <a:r>
              <a:rPr lang="en-US" b="true" sz="2431">
                <a:solidFill>
                  <a:srgbClr val="000000"/>
                </a:solidFill>
                <a:latin typeface="Open Sauce Bold"/>
                <a:ea typeface="Open Sauce Bold"/>
                <a:cs typeface="Open Sauce Bold"/>
                <a:sym typeface="Open Sauce Bold"/>
              </a:rPr>
              <a:t>Lider de proyecto:</a:t>
            </a:r>
            <a:r>
              <a:rPr lang="en-US" sz="2431">
                <a:solidFill>
                  <a:srgbClr val="000000"/>
                </a:solidFill>
                <a:latin typeface="Open Sauce"/>
                <a:ea typeface="Open Sauce"/>
                <a:cs typeface="Open Sauce"/>
                <a:sym typeface="Open Sauce"/>
              </a:rPr>
              <a:t> Camila Mancilla </a:t>
            </a:r>
          </a:p>
          <a:p>
            <a:pPr algn="just" marL="524860" indent="-262430" lvl="1">
              <a:lnSpc>
                <a:spcPts val="5396"/>
              </a:lnSpc>
              <a:buFont typeface="Arial"/>
              <a:buChar char="•"/>
            </a:pPr>
            <a:r>
              <a:rPr lang="en-US" b="true" sz="2431">
                <a:solidFill>
                  <a:srgbClr val="000000"/>
                </a:solidFill>
                <a:latin typeface="Open Sauce Bold"/>
                <a:ea typeface="Open Sauce Bold"/>
                <a:cs typeface="Open Sauce Bold"/>
                <a:sym typeface="Open Sauce Bold"/>
              </a:rPr>
              <a:t>Arquitecto de software:</a:t>
            </a:r>
            <a:r>
              <a:rPr lang="en-US" sz="2431">
                <a:solidFill>
                  <a:srgbClr val="000000"/>
                </a:solidFill>
                <a:latin typeface="Open Sauce"/>
                <a:ea typeface="Open Sauce"/>
                <a:cs typeface="Open Sauce"/>
                <a:sym typeface="Open Sauce"/>
              </a:rPr>
              <a:t> Gladys Espinoza </a:t>
            </a:r>
          </a:p>
          <a:p>
            <a:pPr algn="just" marL="524860" indent="-262430" lvl="1">
              <a:lnSpc>
                <a:spcPts val="5396"/>
              </a:lnSpc>
              <a:buFont typeface="Arial"/>
              <a:buChar char="•"/>
            </a:pPr>
            <a:r>
              <a:rPr lang="en-US" b="true" sz="2431">
                <a:solidFill>
                  <a:srgbClr val="000000"/>
                </a:solidFill>
                <a:latin typeface="Open Sauce Bold"/>
                <a:ea typeface="Open Sauce Bold"/>
                <a:cs typeface="Open Sauce Bold"/>
                <a:sym typeface="Open Sauce Bold"/>
              </a:rPr>
              <a:t>Especialista de hardware y electrónica:</a:t>
            </a:r>
            <a:r>
              <a:rPr lang="en-US" sz="2431">
                <a:solidFill>
                  <a:srgbClr val="000000"/>
                </a:solidFill>
                <a:latin typeface="Open Sauce"/>
                <a:ea typeface="Open Sauce"/>
                <a:cs typeface="Open Sauce"/>
                <a:sym typeface="Open Sauce"/>
              </a:rPr>
              <a:t> Vicente Montenegro</a:t>
            </a:r>
          </a:p>
          <a:p>
            <a:pPr algn="just" marL="524860" indent="-262430" lvl="1">
              <a:lnSpc>
                <a:spcPts val="5396"/>
              </a:lnSpc>
              <a:buFont typeface="Arial"/>
              <a:buChar char="•"/>
            </a:pPr>
            <a:r>
              <a:rPr lang="en-US" b="true" sz="2431">
                <a:solidFill>
                  <a:srgbClr val="000000"/>
                </a:solidFill>
                <a:latin typeface="Open Sauce Bold"/>
                <a:ea typeface="Open Sauce Bold"/>
                <a:cs typeface="Open Sauce Bold"/>
                <a:sym typeface="Open Sauce Bold"/>
              </a:rPr>
              <a:t>Desarrollador full stack:</a:t>
            </a:r>
            <a:r>
              <a:rPr lang="en-US" sz="2431">
                <a:solidFill>
                  <a:srgbClr val="000000"/>
                </a:solidFill>
                <a:latin typeface="Open Sauce"/>
                <a:ea typeface="Open Sauce"/>
                <a:cs typeface="Open Sauce"/>
                <a:sym typeface="Open Sauce"/>
              </a:rPr>
              <a:t> Rol compartido </a:t>
            </a:r>
          </a:p>
          <a:p>
            <a:pPr algn="just" marL="524860" indent="-262430" lvl="1">
              <a:lnSpc>
                <a:spcPts val="5396"/>
              </a:lnSpc>
              <a:buFont typeface="Arial"/>
              <a:buChar char="•"/>
            </a:pPr>
            <a:r>
              <a:rPr lang="en-US" b="true" sz="2431">
                <a:solidFill>
                  <a:srgbClr val="000000"/>
                </a:solidFill>
                <a:latin typeface="Open Sauce Bold"/>
                <a:ea typeface="Open Sauce Bold"/>
                <a:cs typeface="Open Sauce Bold"/>
                <a:sym typeface="Open Sauce Bold"/>
              </a:rPr>
              <a:t>Analista de calidad:</a:t>
            </a:r>
            <a:r>
              <a:rPr lang="en-US" sz="2431">
                <a:solidFill>
                  <a:srgbClr val="000000"/>
                </a:solidFill>
                <a:latin typeface="Open Sauce"/>
                <a:ea typeface="Open Sauce"/>
                <a:cs typeface="Open Sauce"/>
                <a:sym typeface="Open Sauce"/>
              </a:rPr>
              <a:t> Rol compartido </a:t>
            </a:r>
          </a:p>
          <a:p>
            <a:pPr algn="just" marL="0" indent="0" lvl="0">
              <a:lnSpc>
                <a:spcPts val="5396"/>
              </a:lnSpc>
            </a:pPr>
          </a:p>
        </p:txBody>
      </p:sp>
      <p:sp>
        <p:nvSpPr>
          <p:cNvPr name="Freeform 6" id="6"/>
          <p:cNvSpPr/>
          <p:nvPr/>
        </p:nvSpPr>
        <p:spPr>
          <a:xfrm flipH="false" flipV="false" rot="0">
            <a:off x="49720" y="147618"/>
            <a:ext cx="3811322" cy="936950"/>
          </a:xfrm>
          <a:custGeom>
            <a:avLst/>
            <a:gdLst/>
            <a:ahLst/>
            <a:cxnLst/>
            <a:rect r="r" b="b" t="t" l="l"/>
            <a:pathLst>
              <a:path h="936950" w="3811322">
                <a:moveTo>
                  <a:pt x="0" y="0"/>
                </a:moveTo>
                <a:lnTo>
                  <a:pt x="3811322" y="0"/>
                </a:lnTo>
                <a:lnTo>
                  <a:pt x="3811322" y="936950"/>
                </a:lnTo>
                <a:lnTo>
                  <a:pt x="0" y="936950"/>
                </a:lnTo>
                <a:lnTo>
                  <a:pt x="0" y="0"/>
                </a:lnTo>
                <a:close/>
              </a:path>
            </a:pathLst>
          </a:custGeom>
          <a:blipFill>
            <a:blip r:embed="rId3"/>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9720" y="147618"/>
            <a:ext cx="3811322" cy="936950"/>
          </a:xfrm>
          <a:custGeom>
            <a:avLst/>
            <a:gdLst/>
            <a:ahLst/>
            <a:cxnLst/>
            <a:rect r="r" b="b" t="t" l="l"/>
            <a:pathLst>
              <a:path h="936950" w="3811322">
                <a:moveTo>
                  <a:pt x="0" y="0"/>
                </a:moveTo>
                <a:lnTo>
                  <a:pt x="3811322" y="0"/>
                </a:lnTo>
                <a:lnTo>
                  <a:pt x="3811322" y="936950"/>
                </a:lnTo>
                <a:lnTo>
                  <a:pt x="0" y="936950"/>
                </a:lnTo>
                <a:lnTo>
                  <a:pt x="0" y="0"/>
                </a:lnTo>
                <a:close/>
              </a:path>
            </a:pathLst>
          </a:custGeom>
          <a:blipFill>
            <a:blip r:embed="rId2"/>
            <a:stretch>
              <a:fillRect l="0" t="0" r="0" b="0"/>
            </a:stretch>
          </a:blipFill>
        </p:spPr>
      </p:sp>
      <p:sp>
        <p:nvSpPr>
          <p:cNvPr name="Freeform 3" id="3"/>
          <p:cNvSpPr/>
          <p:nvPr/>
        </p:nvSpPr>
        <p:spPr>
          <a:xfrm flipH="false" flipV="false" rot="0">
            <a:off x="3303157" y="1787131"/>
            <a:ext cx="13055636" cy="8150339"/>
          </a:xfrm>
          <a:custGeom>
            <a:avLst/>
            <a:gdLst/>
            <a:ahLst/>
            <a:cxnLst/>
            <a:rect r="r" b="b" t="t" l="l"/>
            <a:pathLst>
              <a:path h="8150339" w="13055636">
                <a:moveTo>
                  <a:pt x="0" y="0"/>
                </a:moveTo>
                <a:lnTo>
                  <a:pt x="13055636" y="0"/>
                </a:lnTo>
                <a:lnTo>
                  <a:pt x="13055636" y="8150339"/>
                </a:lnTo>
                <a:lnTo>
                  <a:pt x="0" y="8150339"/>
                </a:lnTo>
                <a:lnTo>
                  <a:pt x="0" y="0"/>
                </a:lnTo>
                <a:close/>
              </a:path>
            </a:pathLst>
          </a:custGeom>
          <a:blipFill>
            <a:blip r:embed="rId3"/>
            <a:stretch>
              <a:fillRect l="0" t="0" r="0" b="0"/>
            </a:stretch>
          </a:blipFill>
        </p:spPr>
      </p:sp>
      <p:sp>
        <p:nvSpPr>
          <p:cNvPr name="TextBox 4" id="4"/>
          <p:cNvSpPr txBox="true"/>
          <p:nvPr/>
        </p:nvSpPr>
        <p:spPr>
          <a:xfrm rot="0">
            <a:off x="4615161" y="617029"/>
            <a:ext cx="10649180" cy="785241"/>
          </a:xfrm>
          <a:prstGeom prst="rect">
            <a:avLst/>
          </a:prstGeom>
        </p:spPr>
        <p:txBody>
          <a:bodyPr anchor="t" rtlCol="false" tIns="0" lIns="0" bIns="0" rIns="0">
            <a:spAutoFit/>
          </a:bodyPr>
          <a:lstStyle/>
          <a:p>
            <a:pPr algn="ctr" marL="0" indent="0" lvl="0">
              <a:lnSpc>
                <a:spcPts val="6395"/>
              </a:lnSpc>
            </a:pPr>
            <a:r>
              <a:rPr lang="en-US" b="true" sz="4919">
                <a:solidFill>
                  <a:srgbClr val="0F5995"/>
                </a:solidFill>
                <a:latin typeface="Open Sauce Bold"/>
                <a:ea typeface="Open Sauce Bold"/>
                <a:cs typeface="Open Sauce Bold"/>
                <a:sym typeface="Open Sauce Bold"/>
              </a:rPr>
              <a:t>Plan Actual</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0" y="8572500"/>
            <a:ext cx="3267075" cy="1714500"/>
          </a:xfrm>
          <a:custGeom>
            <a:avLst/>
            <a:gdLst/>
            <a:ahLst/>
            <a:cxnLst/>
            <a:rect r="r" b="b" t="t" l="l"/>
            <a:pathLst>
              <a:path h="1714500" w="3267075">
                <a:moveTo>
                  <a:pt x="0" y="0"/>
                </a:moveTo>
                <a:lnTo>
                  <a:pt x="3267075" y="0"/>
                </a:lnTo>
                <a:lnTo>
                  <a:pt x="3267075" y="1714500"/>
                </a:lnTo>
                <a:lnTo>
                  <a:pt x="0" y="1714500"/>
                </a:lnTo>
                <a:lnTo>
                  <a:pt x="0" y="0"/>
                </a:lnTo>
                <a:close/>
              </a:path>
            </a:pathLst>
          </a:custGeom>
          <a:blipFill>
            <a:blip r:embed="rId3"/>
            <a:stretch>
              <a:fillRect l="0" t="0" r="0" b="0"/>
            </a:stretch>
          </a:blipFill>
        </p:spPr>
      </p:sp>
      <p:sp>
        <p:nvSpPr>
          <p:cNvPr name="TextBox 4" id="4"/>
          <p:cNvSpPr txBox="true"/>
          <p:nvPr/>
        </p:nvSpPr>
        <p:spPr>
          <a:xfrm rot="0">
            <a:off x="162030" y="76657"/>
            <a:ext cx="2549392" cy="1005112"/>
          </a:xfrm>
          <a:prstGeom prst="rect">
            <a:avLst/>
          </a:prstGeom>
        </p:spPr>
        <p:txBody>
          <a:bodyPr anchor="t" rtlCol="false" tIns="0" lIns="0" bIns="0" rIns="0">
            <a:spAutoFit/>
          </a:bodyPr>
          <a:lstStyle/>
          <a:p>
            <a:pPr algn="l">
              <a:lnSpc>
                <a:spcPts val="8629"/>
              </a:lnSpc>
            </a:pPr>
            <a:r>
              <a:rPr lang="en-US" b="true" sz="5075" spc="-101">
                <a:solidFill>
                  <a:srgbClr val="F2B84D"/>
                </a:solidFill>
                <a:latin typeface="Inter Semi-Bold"/>
                <a:ea typeface="Inter Semi-Bold"/>
                <a:cs typeface="Inter Semi-Bold"/>
                <a:sym typeface="Inter Semi-Bold"/>
              </a:rPr>
              <a:t>Duoc</a:t>
            </a:r>
            <a:r>
              <a:rPr lang="en-US" b="true" sz="5075" spc="-101">
                <a:solidFill>
                  <a:srgbClr val="114060"/>
                </a:solidFill>
                <a:latin typeface="Inter Semi-Bold"/>
                <a:ea typeface="Inter Semi-Bold"/>
                <a:cs typeface="Inter Semi-Bold"/>
                <a:sym typeface="Inter Semi-Bold"/>
              </a:rPr>
              <a:t>UC</a:t>
            </a:r>
          </a:p>
        </p:txBody>
      </p:sp>
      <p:sp>
        <p:nvSpPr>
          <p:cNvPr name="Freeform 5" id="5"/>
          <p:cNvSpPr/>
          <p:nvPr/>
        </p:nvSpPr>
        <p:spPr>
          <a:xfrm flipH="false" flipV="false" rot="0">
            <a:off x="3048000" y="209550"/>
            <a:ext cx="876300" cy="1076325"/>
          </a:xfrm>
          <a:custGeom>
            <a:avLst/>
            <a:gdLst/>
            <a:ahLst/>
            <a:cxnLst/>
            <a:rect r="r" b="b" t="t" l="l"/>
            <a:pathLst>
              <a:path h="1076325" w="876300">
                <a:moveTo>
                  <a:pt x="0" y="0"/>
                </a:moveTo>
                <a:lnTo>
                  <a:pt x="876300" y="0"/>
                </a:lnTo>
                <a:lnTo>
                  <a:pt x="876300" y="1076325"/>
                </a:lnTo>
                <a:lnTo>
                  <a:pt x="0" y="1076325"/>
                </a:lnTo>
                <a:lnTo>
                  <a:pt x="0" y="0"/>
                </a:lnTo>
                <a:close/>
              </a:path>
            </a:pathLst>
          </a:custGeom>
          <a:blipFill>
            <a:blip r:embed="rId4"/>
            <a:stretch>
              <a:fillRect l="0" t="0" r="0" b="0"/>
            </a:stretch>
          </a:blipFill>
        </p:spPr>
      </p:sp>
      <p:sp>
        <p:nvSpPr>
          <p:cNvPr name="TextBox 6" id="6"/>
          <p:cNvSpPr txBox="true"/>
          <p:nvPr/>
        </p:nvSpPr>
        <p:spPr>
          <a:xfrm rot="0">
            <a:off x="7378649" y="227346"/>
            <a:ext cx="3430868" cy="1005112"/>
          </a:xfrm>
          <a:prstGeom prst="rect">
            <a:avLst/>
          </a:prstGeom>
        </p:spPr>
        <p:txBody>
          <a:bodyPr anchor="t" rtlCol="false" tIns="0" lIns="0" bIns="0" rIns="0">
            <a:spAutoFit/>
          </a:bodyPr>
          <a:lstStyle/>
          <a:p>
            <a:pPr algn="ctr">
              <a:lnSpc>
                <a:spcPts val="8629"/>
              </a:lnSpc>
            </a:pPr>
            <a:r>
              <a:rPr lang="en-US" b="true" sz="5075" spc="-101">
                <a:solidFill>
                  <a:srgbClr val="114060"/>
                </a:solidFill>
                <a:latin typeface="Inter Semi-Bold"/>
                <a:ea typeface="Inter Semi-Bold"/>
                <a:cs typeface="Inter Semi-Bold"/>
                <a:sym typeface="Inter Semi-Bold"/>
              </a:rPr>
              <a:t>Plan Actual</a:t>
            </a:r>
          </a:p>
        </p:txBody>
      </p:sp>
      <p:sp>
        <p:nvSpPr>
          <p:cNvPr name="Freeform 7" id="7"/>
          <p:cNvSpPr/>
          <p:nvPr/>
        </p:nvSpPr>
        <p:spPr>
          <a:xfrm flipH="false" flipV="false" rot="0">
            <a:off x="8267700" y="1495425"/>
            <a:ext cx="1752600" cy="219075"/>
          </a:xfrm>
          <a:custGeom>
            <a:avLst/>
            <a:gdLst/>
            <a:ahLst/>
            <a:cxnLst/>
            <a:rect r="r" b="b" t="t" l="l"/>
            <a:pathLst>
              <a:path h="219075" w="1752600">
                <a:moveTo>
                  <a:pt x="0" y="0"/>
                </a:moveTo>
                <a:lnTo>
                  <a:pt x="1752600" y="0"/>
                </a:lnTo>
                <a:lnTo>
                  <a:pt x="1752600" y="219075"/>
                </a:lnTo>
                <a:lnTo>
                  <a:pt x="0" y="219075"/>
                </a:lnTo>
                <a:lnTo>
                  <a:pt x="0" y="0"/>
                </a:lnTo>
                <a:close/>
              </a:path>
            </a:pathLst>
          </a:custGeom>
          <a:blipFill>
            <a:blip r:embed="rId5"/>
            <a:stretch>
              <a:fillRect l="0" t="0" r="0" b="0"/>
            </a:stretch>
          </a:blipFill>
        </p:spPr>
      </p:sp>
      <p:sp>
        <p:nvSpPr>
          <p:cNvPr name="Freeform 8" id="8"/>
          <p:cNvSpPr/>
          <p:nvPr/>
        </p:nvSpPr>
        <p:spPr>
          <a:xfrm flipH="false" flipV="false" rot="0">
            <a:off x="1085850" y="1924050"/>
            <a:ext cx="7848600" cy="7505700"/>
          </a:xfrm>
          <a:custGeom>
            <a:avLst/>
            <a:gdLst/>
            <a:ahLst/>
            <a:cxnLst/>
            <a:rect r="r" b="b" t="t" l="l"/>
            <a:pathLst>
              <a:path h="7505700" w="7848600">
                <a:moveTo>
                  <a:pt x="0" y="0"/>
                </a:moveTo>
                <a:lnTo>
                  <a:pt x="7848600" y="0"/>
                </a:lnTo>
                <a:lnTo>
                  <a:pt x="7848600" y="7505700"/>
                </a:lnTo>
                <a:lnTo>
                  <a:pt x="0" y="7505700"/>
                </a:lnTo>
                <a:lnTo>
                  <a:pt x="0" y="0"/>
                </a:lnTo>
                <a:close/>
              </a:path>
            </a:pathLst>
          </a:custGeom>
          <a:blipFill>
            <a:blip r:embed="rId6"/>
            <a:stretch>
              <a:fillRect l="0" t="0" r="0" b="0"/>
            </a:stretch>
          </a:blipFill>
        </p:spPr>
      </p:sp>
      <p:sp>
        <p:nvSpPr>
          <p:cNvPr name="Freeform 9" id="9"/>
          <p:cNvSpPr/>
          <p:nvPr/>
        </p:nvSpPr>
        <p:spPr>
          <a:xfrm flipH="false" flipV="false" rot="0">
            <a:off x="1085850" y="1924050"/>
            <a:ext cx="7848600" cy="1504950"/>
          </a:xfrm>
          <a:custGeom>
            <a:avLst/>
            <a:gdLst/>
            <a:ahLst/>
            <a:cxnLst/>
            <a:rect r="r" b="b" t="t" l="l"/>
            <a:pathLst>
              <a:path h="1504950" w="7848600">
                <a:moveTo>
                  <a:pt x="0" y="0"/>
                </a:moveTo>
                <a:lnTo>
                  <a:pt x="7848600" y="0"/>
                </a:lnTo>
                <a:lnTo>
                  <a:pt x="7848600" y="1504950"/>
                </a:lnTo>
                <a:lnTo>
                  <a:pt x="0" y="1504950"/>
                </a:lnTo>
                <a:lnTo>
                  <a:pt x="0" y="0"/>
                </a:lnTo>
                <a:close/>
              </a:path>
            </a:pathLst>
          </a:custGeom>
          <a:blipFill>
            <a:blip r:embed="rId7"/>
            <a:stretch>
              <a:fillRect l="0" t="0" r="0" b="0"/>
            </a:stretch>
          </a:blipFill>
        </p:spPr>
      </p:sp>
      <p:sp>
        <p:nvSpPr>
          <p:cNvPr name="Freeform 10" id="10"/>
          <p:cNvSpPr/>
          <p:nvPr/>
        </p:nvSpPr>
        <p:spPr>
          <a:xfrm flipH="false" flipV="false" rot="0">
            <a:off x="1304925" y="2143125"/>
            <a:ext cx="1314450" cy="1076325"/>
          </a:xfrm>
          <a:custGeom>
            <a:avLst/>
            <a:gdLst/>
            <a:ahLst/>
            <a:cxnLst/>
            <a:rect r="r" b="b" t="t" l="l"/>
            <a:pathLst>
              <a:path h="1076325" w="1314450">
                <a:moveTo>
                  <a:pt x="0" y="0"/>
                </a:moveTo>
                <a:lnTo>
                  <a:pt x="1314450" y="0"/>
                </a:lnTo>
                <a:lnTo>
                  <a:pt x="1314450" y="1076325"/>
                </a:lnTo>
                <a:lnTo>
                  <a:pt x="0" y="1076325"/>
                </a:lnTo>
                <a:lnTo>
                  <a:pt x="0" y="0"/>
                </a:lnTo>
                <a:close/>
              </a:path>
            </a:pathLst>
          </a:custGeom>
          <a:blipFill>
            <a:blip r:embed="rId8"/>
            <a:stretch>
              <a:fillRect l="0" t="0" r="0" b="0"/>
            </a:stretch>
          </a:blipFill>
        </p:spPr>
      </p:sp>
      <p:sp>
        <p:nvSpPr>
          <p:cNvPr name="TextBox 11" id="11"/>
          <p:cNvSpPr txBox="true"/>
          <p:nvPr/>
        </p:nvSpPr>
        <p:spPr>
          <a:xfrm rot="0">
            <a:off x="2758925" y="2237784"/>
            <a:ext cx="2713759" cy="579238"/>
          </a:xfrm>
          <a:prstGeom prst="rect">
            <a:avLst/>
          </a:prstGeom>
        </p:spPr>
        <p:txBody>
          <a:bodyPr anchor="t" rtlCol="false" tIns="0" lIns="0" bIns="0" rIns="0">
            <a:spAutoFit/>
          </a:bodyPr>
          <a:lstStyle/>
          <a:p>
            <a:pPr algn="l">
              <a:lnSpc>
                <a:spcPts val="5050"/>
              </a:lnSpc>
            </a:pPr>
            <a:r>
              <a:rPr lang="en-US" b="true" sz="2970" spc="-59">
                <a:solidFill>
                  <a:srgbClr val="F0F4F1"/>
                </a:solidFill>
                <a:latin typeface="Inter Semi-Bold"/>
                <a:ea typeface="Inter Semi-Bold"/>
                <a:cs typeface="Inter Semi-Bold"/>
                <a:sym typeface="Inter Semi-Bold"/>
              </a:rPr>
              <a:t>Modificaciones</a:t>
            </a:r>
          </a:p>
        </p:txBody>
      </p:sp>
      <p:sp>
        <p:nvSpPr>
          <p:cNvPr name="TextBox 12" id="12"/>
          <p:cNvSpPr txBox="true"/>
          <p:nvPr/>
        </p:nvSpPr>
        <p:spPr>
          <a:xfrm rot="0">
            <a:off x="1393031" y="3686863"/>
            <a:ext cx="6590109" cy="935460"/>
          </a:xfrm>
          <a:prstGeom prst="rect">
            <a:avLst/>
          </a:prstGeom>
        </p:spPr>
        <p:txBody>
          <a:bodyPr anchor="t" rtlCol="false" tIns="0" lIns="0" bIns="0" rIns="0">
            <a:spAutoFit/>
          </a:bodyPr>
          <a:lstStyle/>
          <a:p>
            <a:pPr algn="just" marL="486620" indent="-243310" lvl="1">
              <a:lnSpc>
                <a:spcPts val="3833"/>
              </a:lnSpc>
              <a:buFont typeface="Arial"/>
              <a:buChar char="•"/>
            </a:pPr>
            <a:r>
              <a:rPr lang="en-US" b="true" sz="2254" spc="-45">
                <a:solidFill>
                  <a:srgbClr val="393939"/>
                </a:solidFill>
                <a:latin typeface="Inter Semi-Bold"/>
                <a:ea typeface="Inter Semi-Bold"/>
                <a:cs typeface="Inter Semi-Bold"/>
                <a:sym typeface="Inter Semi-Bold"/>
              </a:rPr>
              <a:t>Se agrego la tarea de aplicar seguridad al proyecto.</a:t>
            </a:r>
          </a:p>
        </p:txBody>
      </p:sp>
      <p:sp>
        <p:nvSpPr>
          <p:cNvPr name="TextBox 13" id="13"/>
          <p:cNvSpPr txBox="true"/>
          <p:nvPr/>
        </p:nvSpPr>
        <p:spPr>
          <a:xfrm rot="0">
            <a:off x="1393031" y="5329367"/>
            <a:ext cx="6590109" cy="935460"/>
          </a:xfrm>
          <a:prstGeom prst="rect">
            <a:avLst/>
          </a:prstGeom>
        </p:spPr>
        <p:txBody>
          <a:bodyPr anchor="t" rtlCol="false" tIns="0" lIns="0" bIns="0" rIns="0">
            <a:spAutoFit/>
          </a:bodyPr>
          <a:lstStyle/>
          <a:p>
            <a:pPr algn="just" marL="486620" indent="-243310" lvl="1">
              <a:lnSpc>
                <a:spcPts val="3833"/>
              </a:lnSpc>
              <a:buFont typeface="Arial"/>
              <a:buChar char="•"/>
            </a:pPr>
            <a:r>
              <a:rPr lang="en-US" b="true" sz="2254" spc="-45">
                <a:solidFill>
                  <a:srgbClr val="393939"/>
                </a:solidFill>
                <a:latin typeface="Inter Semi-Bold"/>
                <a:ea typeface="Inter Semi-Bold"/>
                <a:cs typeface="Inter Semi-Bold"/>
                <a:sym typeface="Inter Semi-Bold"/>
              </a:rPr>
              <a:t>Mayor plazo en el desarrollo base del backend (de 4 días a 2 semanas) .</a:t>
            </a:r>
          </a:p>
        </p:txBody>
      </p:sp>
      <p:sp>
        <p:nvSpPr>
          <p:cNvPr name="TextBox 14" id="14"/>
          <p:cNvSpPr txBox="true"/>
          <p:nvPr/>
        </p:nvSpPr>
        <p:spPr>
          <a:xfrm rot="0">
            <a:off x="1393031" y="6926665"/>
            <a:ext cx="6509742" cy="935460"/>
          </a:xfrm>
          <a:prstGeom prst="rect">
            <a:avLst/>
          </a:prstGeom>
        </p:spPr>
        <p:txBody>
          <a:bodyPr anchor="t" rtlCol="false" tIns="0" lIns="0" bIns="0" rIns="0">
            <a:spAutoFit/>
          </a:bodyPr>
          <a:lstStyle/>
          <a:p>
            <a:pPr algn="just" marL="486620" indent="-243310" lvl="1">
              <a:lnSpc>
                <a:spcPts val="3833"/>
              </a:lnSpc>
              <a:buFont typeface="Arial"/>
              <a:buChar char="•"/>
            </a:pPr>
            <a:r>
              <a:rPr lang="en-US" b="true" sz="2254" spc="-45">
                <a:solidFill>
                  <a:srgbClr val="393939"/>
                </a:solidFill>
                <a:latin typeface="Inter Semi-Bold"/>
                <a:ea typeface="Inter Semi-Bold"/>
                <a:cs typeface="Inter Semi-Bold"/>
                <a:sym typeface="Inter Semi-Bold"/>
              </a:rPr>
              <a:t>Cambio del orden entre la tarea de publicador MQTT y configuración GCP.</a:t>
            </a:r>
          </a:p>
        </p:txBody>
      </p:sp>
      <p:sp>
        <p:nvSpPr>
          <p:cNvPr name="Freeform 15" id="15"/>
          <p:cNvSpPr/>
          <p:nvPr/>
        </p:nvSpPr>
        <p:spPr>
          <a:xfrm flipH="false" flipV="false" rot="0">
            <a:off x="9353550" y="1924050"/>
            <a:ext cx="7629525" cy="7505700"/>
          </a:xfrm>
          <a:custGeom>
            <a:avLst/>
            <a:gdLst/>
            <a:ahLst/>
            <a:cxnLst/>
            <a:rect r="r" b="b" t="t" l="l"/>
            <a:pathLst>
              <a:path h="7505700" w="7629525">
                <a:moveTo>
                  <a:pt x="0" y="0"/>
                </a:moveTo>
                <a:lnTo>
                  <a:pt x="7629525" y="0"/>
                </a:lnTo>
                <a:lnTo>
                  <a:pt x="7629525" y="7505700"/>
                </a:lnTo>
                <a:lnTo>
                  <a:pt x="0" y="7505700"/>
                </a:lnTo>
                <a:lnTo>
                  <a:pt x="0" y="0"/>
                </a:lnTo>
                <a:close/>
              </a:path>
            </a:pathLst>
          </a:custGeom>
          <a:blipFill>
            <a:blip r:embed="rId9"/>
            <a:stretch>
              <a:fillRect l="0" t="0" r="0" b="0"/>
            </a:stretch>
          </a:blipFill>
        </p:spPr>
      </p:sp>
      <p:sp>
        <p:nvSpPr>
          <p:cNvPr name="Freeform 16" id="16"/>
          <p:cNvSpPr/>
          <p:nvPr/>
        </p:nvSpPr>
        <p:spPr>
          <a:xfrm flipH="false" flipV="false" rot="0">
            <a:off x="9353550" y="1924050"/>
            <a:ext cx="7629525" cy="1504950"/>
          </a:xfrm>
          <a:custGeom>
            <a:avLst/>
            <a:gdLst/>
            <a:ahLst/>
            <a:cxnLst/>
            <a:rect r="r" b="b" t="t" l="l"/>
            <a:pathLst>
              <a:path h="1504950" w="7629525">
                <a:moveTo>
                  <a:pt x="0" y="0"/>
                </a:moveTo>
                <a:lnTo>
                  <a:pt x="7629525" y="0"/>
                </a:lnTo>
                <a:lnTo>
                  <a:pt x="7629525" y="1504950"/>
                </a:lnTo>
                <a:lnTo>
                  <a:pt x="0" y="1504950"/>
                </a:lnTo>
                <a:lnTo>
                  <a:pt x="0" y="0"/>
                </a:lnTo>
                <a:close/>
              </a:path>
            </a:pathLst>
          </a:custGeom>
          <a:blipFill>
            <a:blip r:embed="rId10"/>
            <a:stretch>
              <a:fillRect l="0" t="0" r="0" b="0"/>
            </a:stretch>
          </a:blipFill>
        </p:spPr>
      </p:sp>
      <p:sp>
        <p:nvSpPr>
          <p:cNvPr name="Freeform 17" id="17"/>
          <p:cNvSpPr/>
          <p:nvPr/>
        </p:nvSpPr>
        <p:spPr>
          <a:xfrm flipH="false" flipV="false" rot="0">
            <a:off x="9714003" y="2143125"/>
            <a:ext cx="1314450" cy="1076325"/>
          </a:xfrm>
          <a:custGeom>
            <a:avLst/>
            <a:gdLst/>
            <a:ahLst/>
            <a:cxnLst/>
            <a:rect r="r" b="b" t="t" l="l"/>
            <a:pathLst>
              <a:path h="1076325" w="1314450">
                <a:moveTo>
                  <a:pt x="0" y="0"/>
                </a:moveTo>
                <a:lnTo>
                  <a:pt x="1314450" y="0"/>
                </a:lnTo>
                <a:lnTo>
                  <a:pt x="1314450" y="1076325"/>
                </a:lnTo>
                <a:lnTo>
                  <a:pt x="0" y="1076325"/>
                </a:lnTo>
                <a:lnTo>
                  <a:pt x="0" y="0"/>
                </a:lnTo>
                <a:close/>
              </a:path>
            </a:pathLst>
          </a:custGeom>
          <a:blipFill>
            <a:blip r:embed="rId11"/>
            <a:stretch>
              <a:fillRect l="0" t="0" r="0" b="0"/>
            </a:stretch>
          </a:blipFill>
        </p:spPr>
      </p:sp>
      <p:sp>
        <p:nvSpPr>
          <p:cNvPr name="TextBox 18" id="18"/>
          <p:cNvSpPr txBox="true"/>
          <p:nvPr/>
        </p:nvSpPr>
        <p:spPr>
          <a:xfrm rot="0">
            <a:off x="11112844" y="2237784"/>
            <a:ext cx="3140620" cy="579238"/>
          </a:xfrm>
          <a:prstGeom prst="rect">
            <a:avLst/>
          </a:prstGeom>
        </p:spPr>
        <p:txBody>
          <a:bodyPr anchor="t" rtlCol="false" tIns="0" lIns="0" bIns="0" rIns="0">
            <a:spAutoFit/>
          </a:bodyPr>
          <a:lstStyle/>
          <a:p>
            <a:pPr algn="l">
              <a:lnSpc>
                <a:spcPts val="5050"/>
              </a:lnSpc>
            </a:pPr>
            <a:r>
              <a:rPr lang="en-US" b="true" sz="2970" spc="-59">
                <a:solidFill>
                  <a:srgbClr val="F0F4F1"/>
                </a:solidFill>
                <a:latin typeface="Inter Semi-Bold"/>
                <a:ea typeface="Inter Semi-Bold"/>
                <a:cs typeface="Inter Semi-Bold"/>
                <a:sym typeface="Inter Semi-Bold"/>
              </a:rPr>
              <a:t>Hitos importantes</a:t>
            </a:r>
          </a:p>
        </p:txBody>
      </p:sp>
      <p:sp>
        <p:nvSpPr>
          <p:cNvPr name="TextBox 19" id="19"/>
          <p:cNvSpPr txBox="true"/>
          <p:nvPr/>
        </p:nvSpPr>
        <p:spPr>
          <a:xfrm rot="0">
            <a:off x="9742345" y="3604902"/>
            <a:ext cx="3566278" cy="360266"/>
          </a:xfrm>
          <a:prstGeom prst="rect">
            <a:avLst/>
          </a:prstGeom>
        </p:spPr>
        <p:txBody>
          <a:bodyPr anchor="t" rtlCol="false" tIns="0" lIns="0" bIns="0" rIns="0">
            <a:spAutoFit/>
          </a:bodyPr>
          <a:lstStyle/>
          <a:p>
            <a:pPr algn="just" marL="402098" indent="-201049" lvl="1">
              <a:lnSpc>
                <a:spcPts val="3167"/>
              </a:lnSpc>
              <a:buFont typeface="Arial"/>
              <a:buChar char="•"/>
            </a:pPr>
            <a:r>
              <a:rPr lang="en-US" b="true" sz="1863" spc="-37">
                <a:solidFill>
                  <a:srgbClr val="393939"/>
                </a:solidFill>
                <a:latin typeface="Inter Semi-Bold"/>
                <a:ea typeface="Inter Semi-Bold"/>
                <a:cs typeface="Inter Semi-Bold"/>
                <a:sym typeface="Inter Semi-Bold"/>
              </a:rPr>
              <a:t>Servicio CRON funcionando</a:t>
            </a:r>
          </a:p>
        </p:txBody>
      </p:sp>
      <p:sp>
        <p:nvSpPr>
          <p:cNvPr name="TextBox 20" id="20"/>
          <p:cNvSpPr txBox="true"/>
          <p:nvPr/>
        </p:nvSpPr>
        <p:spPr>
          <a:xfrm rot="0">
            <a:off x="9747482" y="4207656"/>
            <a:ext cx="3052586" cy="360266"/>
          </a:xfrm>
          <a:prstGeom prst="rect">
            <a:avLst/>
          </a:prstGeom>
        </p:spPr>
        <p:txBody>
          <a:bodyPr anchor="t" rtlCol="false" tIns="0" lIns="0" bIns="0" rIns="0">
            <a:spAutoFit/>
          </a:bodyPr>
          <a:lstStyle/>
          <a:p>
            <a:pPr algn="just" marL="402098" indent="-201049" lvl="1">
              <a:lnSpc>
                <a:spcPts val="3167"/>
              </a:lnSpc>
              <a:buFont typeface="Arial"/>
              <a:buChar char="•"/>
            </a:pPr>
            <a:r>
              <a:rPr lang="en-US" b="true" sz="1863" spc="-37">
                <a:solidFill>
                  <a:srgbClr val="393939"/>
                </a:solidFill>
                <a:latin typeface="Inter Semi-Bold"/>
                <a:ea typeface="Inter Semi-Bold"/>
                <a:cs typeface="Inter Semi-Bold"/>
                <a:sym typeface="Inter Semi-Bold"/>
              </a:rPr>
              <a:t>API Dummy de eventos</a:t>
            </a:r>
          </a:p>
        </p:txBody>
      </p:sp>
      <p:sp>
        <p:nvSpPr>
          <p:cNvPr name="TextBox 21" id="21"/>
          <p:cNvSpPr txBox="true"/>
          <p:nvPr/>
        </p:nvSpPr>
        <p:spPr>
          <a:xfrm rot="0">
            <a:off x="9742349" y="4750134"/>
            <a:ext cx="3565915" cy="360266"/>
          </a:xfrm>
          <a:prstGeom prst="rect">
            <a:avLst/>
          </a:prstGeom>
        </p:spPr>
        <p:txBody>
          <a:bodyPr anchor="t" rtlCol="false" tIns="0" lIns="0" bIns="0" rIns="0">
            <a:spAutoFit/>
          </a:bodyPr>
          <a:lstStyle/>
          <a:p>
            <a:pPr algn="just" marL="402098" indent="-201049" lvl="1">
              <a:lnSpc>
                <a:spcPts val="3167"/>
              </a:lnSpc>
              <a:buFont typeface="Arial"/>
              <a:buChar char="•"/>
            </a:pPr>
            <a:r>
              <a:rPr lang="en-US" b="true" sz="1863" spc="-37">
                <a:solidFill>
                  <a:srgbClr val="393939"/>
                </a:solidFill>
                <a:latin typeface="Inter Semi-Bold"/>
                <a:ea typeface="Inter Semi-Bold"/>
                <a:cs typeface="Inter Semi-Bold"/>
                <a:sym typeface="Inter Semi-Bold"/>
              </a:rPr>
              <a:t>Desarrollo base de Backend</a:t>
            </a:r>
          </a:p>
        </p:txBody>
      </p:sp>
      <p:sp>
        <p:nvSpPr>
          <p:cNvPr name="TextBox 22" id="22"/>
          <p:cNvSpPr txBox="true"/>
          <p:nvPr/>
        </p:nvSpPr>
        <p:spPr>
          <a:xfrm rot="0">
            <a:off x="9747233" y="5352888"/>
            <a:ext cx="3077484" cy="360266"/>
          </a:xfrm>
          <a:prstGeom prst="rect">
            <a:avLst/>
          </a:prstGeom>
        </p:spPr>
        <p:txBody>
          <a:bodyPr anchor="t" rtlCol="false" tIns="0" lIns="0" bIns="0" rIns="0">
            <a:spAutoFit/>
          </a:bodyPr>
          <a:lstStyle/>
          <a:p>
            <a:pPr algn="just" marL="402098" indent="-201049" lvl="1">
              <a:lnSpc>
                <a:spcPts val="3167"/>
              </a:lnSpc>
              <a:buFont typeface="Arial"/>
              <a:buChar char="•"/>
            </a:pPr>
            <a:r>
              <a:rPr lang="en-US" b="true" sz="1863" spc="-37">
                <a:solidFill>
                  <a:srgbClr val="393939"/>
                </a:solidFill>
                <a:latin typeface="Inter Semi-Bold"/>
                <a:ea typeface="Inter Semi-Bold"/>
                <a:cs typeface="Inter Semi-Bold"/>
                <a:sym typeface="Inter Semi-Bold"/>
              </a:rPr>
              <a:t>Frontend casi completo</a:t>
            </a:r>
          </a:p>
        </p:txBody>
      </p:sp>
      <p:sp>
        <p:nvSpPr>
          <p:cNvPr name="TextBox 23" id="23"/>
          <p:cNvSpPr txBox="true"/>
          <p:nvPr/>
        </p:nvSpPr>
        <p:spPr>
          <a:xfrm rot="0">
            <a:off x="9734382" y="5925504"/>
            <a:ext cx="4362563" cy="360266"/>
          </a:xfrm>
          <a:prstGeom prst="rect">
            <a:avLst/>
          </a:prstGeom>
        </p:spPr>
        <p:txBody>
          <a:bodyPr anchor="t" rtlCol="false" tIns="0" lIns="0" bIns="0" rIns="0">
            <a:spAutoFit/>
          </a:bodyPr>
          <a:lstStyle/>
          <a:p>
            <a:pPr algn="just" marL="402098" indent="-201049" lvl="1">
              <a:lnSpc>
                <a:spcPts val="3167"/>
              </a:lnSpc>
              <a:buFont typeface="Arial"/>
              <a:buChar char="•"/>
            </a:pPr>
            <a:r>
              <a:rPr lang="en-US" b="true" sz="1863" spc="-37">
                <a:solidFill>
                  <a:srgbClr val="393939"/>
                </a:solidFill>
                <a:latin typeface="Inter Semi-Bold"/>
                <a:ea typeface="Inter Semi-Bold"/>
                <a:cs typeface="Inter Semi-Bold"/>
                <a:sym typeface="Inter Semi-Bold"/>
              </a:rPr>
              <a:t>Construcción del formateador CAP</a:t>
            </a:r>
          </a:p>
        </p:txBody>
      </p:sp>
      <p:sp>
        <p:nvSpPr>
          <p:cNvPr name="TextBox 24" id="24"/>
          <p:cNvSpPr txBox="true"/>
          <p:nvPr/>
        </p:nvSpPr>
        <p:spPr>
          <a:xfrm rot="0">
            <a:off x="9738630" y="6498121"/>
            <a:ext cx="3937772" cy="360266"/>
          </a:xfrm>
          <a:prstGeom prst="rect">
            <a:avLst/>
          </a:prstGeom>
        </p:spPr>
        <p:txBody>
          <a:bodyPr anchor="t" rtlCol="false" tIns="0" lIns="0" bIns="0" rIns="0">
            <a:spAutoFit/>
          </a:bodyPr>
          <a:lstStyle/>
          <a:p>
            <a:pPr algn="just" marL="402098" indent="-201049" lvl="1">
              <a:lnSpc>
                <a:spcPts val="3167"/>
              </a:lnSpc>
              <a:buFont typeface="Arial"/>
              <a:buChar char="•"/>
            </a:pPr>
            <a:r>
              <a:rPr lang="en-US" b="true" sz="1863" spc="-37">
                <a:solidFill>
                  <a:srgbClr val="393939"/>
                </a:solidFill>
                <a:latin typeface="Inter Semi-Bold"/>
                <a:ea typeface="Inter Semi-Bold"/>
                <a:cs typeface="Inter Semi-Bold"/>
                <a:sym typeface="Inter Semi-Bold"/>
              </a:rPr>
              <a:t>Configuración de Bot Telegram</a:t>
            </a:r>
          </a:p>
        </p:txBody>
      </p:sp>
      <p:sp>
        <p:nvSpPr>
          <p:cNvPr name="TextBox 25" id="25"/>
          <p:cNvSpPr txBox="true"/>
          <p:nvPr/>
        </p:nvSpPr>
        <p:spPr>
          <a:xfrm rot="0">
            <a:off x="9737294" y="7070737"/>
            <a:ext cx="4071429" cy="360266"/>
          </a:xfrm>
          <a:prstGeom prst="rect">
            <a:avLst/>
          </a:prstGeom>
        </p:spPr>
        <p:txBody>
          <a:bodyPr anchor="t" rtlCol="false" tIns="0" lIns="0" bIns="0" rIns="0">
            <a:spAutoFit/>
          </a:bodyPr>
          <a:lstStyle/>
          <a:p>
            <a:pPr algn="just" marL="402098" indent="-201049" lvl="1">
              <a:lnSpc>
                <a:spcPts val="3167"/>
              </a:lnSpc>
              <a:buFont typeface="Arial"/>
              <a:buChar char="•"/>
            </a:pPr>
            <a:r>
              <a:rPr lang="en-US" b="true" sz="1863" spc="-37">
                <a:solidFill>
                  <a:srgbClr val="393939"/>
                </a:solidFill>
                <a:latin typeface="Inter Semi-Bold"/>
                <a:ea typeface="Inter Semi-Bold"/>
                <a:cs typeface="Inter Semi-Bold"/>
                <a:sym typeface="Inter Semi-Bold"/>
              </a:rPr>
              <a:t>Integración de publicador MQTT</a:t>
            </a:r>
          </a:p>
        </p:txBody>
      </p:sp>
      <p:sp>
        <p:nvSpPr>
          <p:cNvPr name="TextBox 26" id="26"/>
          <p:cNvSpPr txBox="true"/>
          <p:nvPr/>
        </p:nvSpPr>
        <p:spPr>
          <a:xfrm rot="0">
            <a:off x="9748713" y="7658422"/>
            <a:ext cx="2929513" cy="360266"/>
          </a:xfrm>
          <a:prstGeom prst="rect">
            <a:avLst/>
          </a:prstGeom>
        </p:spPr>
        <p:txBody>
          <a:bodyPr anchor="t" rtlCol="false" tIns="0" lIns="0" bIns="0" rIns="0">
            <a:spAutoFit/>
          </a:bodyPr>
          <a:lstStyle/>
          <a:p>
            <a:pPr algn="just" marL="402098" indent="-201049" lvl="1">
              <a:lnSpc>
                <a:spcPts val="3167"/>
              </a:lnSpc>
              <a:buFont typeface="Arial"/>
              <a:buChar char="•"/>
            </a:pPr>
            <a:r>
              <a:rPr lang="en-US" b="true" sz="1863" spc="-37">
                <a:solidFill>
                  <a:srgbClr val="393939"/>
                </a:solidFill>
                <a:latin typeface="Inter Semi-Bold"/>
                <a:ea typeface="Inter Semi-Bold"/>
                <a:cs typeface="Inter Semi-Bold"/>
                <a:sym typeface="Inter Semi-Bold"/>
              </a:rPr>
              <a:t>Configuración de GCP</a:t>
            </a:r>
          </a:p>
        </p:txBody>
      </p:sp>
      <p:sp>
        <p:nvSpPr>
          <p:cNvPr name="TextBox 27" id="27"/>
          <p:cNvSpPr txBox="true"/>
          <p:nvPr/>
        </p:nvSpPr>
        <p:spPr>
          <a:xfrm rot="0">
            <a:off x="9744004" y="8246107"/>
            <a:ext cx="3400376" cy="360266"/>
          </a:xfrm>
          <a:prstGeom prst="rect">
            <a:avLst/>
          </a:prstGeom>
        </p:spPr>
        <p:txBody>
          <a:bodyPr anchor="t" rtlCol="false" tIns="0" lIns="0" bIns="0" rIns="0">
            <a:spAutoFit/>
          </a:bodyPr>
          <a:lstStyle/>
          <a:p>
            <a:pPr algn="just" marL="402098" indent="-201049" lvl="1">
              <a:lnSpc>
                <a:spcPts val="3167"/>
              </a:lnSpc>
              <a:buFont typeface="Arial"/>
              <a:buChar char="•"/>
            </a:pPr>
            <a:r>
              <a:rPr lang="en-US" b="true" sz="1863" spc="-37">
                <a:solidFill>
                  <a:srgbClr val="393939"/>
                </a:solidFill>
                <a:latin typeface="Inter Semi-Bold"/>
                <a:ea typeface="Inter Semi-Bold"/>
                <a:cs typeface="Inter Semi-Bold"/>
                <a:sym typeface="Inter Semi-Bold"/>
              </a:rPr>
              <a:t>Primer prototipo de ESP32</a:t>
            </a:r>
          </a:p>
        </p:txBody>
      </p:sp>
      <p:sp>
        <p:nvSpPr>
          <p:cNvPr name="TextBox 28" id="28"/>
          <p:cNvSpPr txBox="true"/>
          <p:nvPr/>
        </p:nvSpPr>
        <p:spPr>
          <a:xfrm rot="0">
            <a:off x="1393031" y="8577979"/>
            <a:ext cx="6590109" cy="430095"/>
          </a:xfrm>
          <a:prstGeom prst="rect">
            <a:avLst/>
          </a:prstGeom>
        </p:spPr>
        <p:txBody>
          <a:bodyPr anchor="t" rtlCol="false" tIns="0" lIns="0" bIns="0" rIns="0">
            <a:spAutoFit/>
          </a:bodyPr>
          <a:lstStyle/>
          <a:p>
            <a:pPr algn="just" marL="472275" indent="-236138" lvl="1">
              <a:lnSpc>
                <a:spcPts val="3720"/>
              </a:lnSpc>
              <a:buFont typeface="Arial"/>
              <a:buChar char="•"/>
            </a:pPr>
            <a:r>
              <a:rPr lang="en-US" b="true" sz="2188" spc="-43">
                <a:solidFill>
                  <a:srgbClr val="393939"/>
                </a:solidFill>
                <a:latin typeface="Inter Semi-Bold"/>
                <a:ea typeface="Inter Semi-Bold"/>
                <a:cs typeface="Inter Semi-Bold"/>
                <a:sym typeface="Inter Semi-Bold"/>
              </a:rPr>
              <a:t>Modificación de plazos por ser muy cortos.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82361" y="-145831"/>
            <a:ext cx="3195181" cy="1237896"/>
          </a:xfrm>
          <a:prstGeom prst="rect">
            <a:avLst/>
          </a:prstGeom>
        </p:spPr>
        <p:txBody>
          <a:bodyPr anchor="t" rtlCol="false" tIns="0" lIns="0" bIns="0" rIns="0">
            <a:spAutoFit/>
          </a:bodyPr>
          <a:lstStyle/>
          <a:p>
            <a:pPr algn="l">
              <a:lnSpc>
                <a:spcPts val="10620"/>
              </a:lnSpc>
            </a:pPr>
            <a:r>
              <a:rPr lang="en-US" sz="6246" spc="-61" b="true">
                <a:solidFill>
                  <a:srgbClr val="F6B42C"/>
                </a:solidFill>
                <a:latin typeface="Inter Bold"/>
                <a:ea typeface="Inter Bold"/>
                <a:cs typeface="Inter Bold"/>
                <a:sym typeface="Inter Bold"/>
              </a:rPr>
              <a:t>Duoc</a:t>
            </a:r>
            <a:r>
              <a:rPr lang="en-US" sz="6246" spc="-61" b="true">
                <a:solidFill>
                  <a:srgbClr val="0C2B40"/>
                </a:solidFill>
                <a:latin typeface="Inter Bold"/>
                <a:ea typeface="Inter Bold"/>
                <a:cs typeface="Inter Bold"/>
                <a:sym typeface="Inter Bold"/>
              </a:rPr>
              <a:t>UC</a:t>
            </a:r>
          </a:p>
        </p:txBody>
      </p:sp>
      <p:sp>
        <p:nvSpPr>
          <p:cNvPr name="Freeform 4" id="4"/>
          <p:cNvSpPr/>
          <p:nvPr/>
        </p:nvSpPr>
        <p:spPr>
          <a:xfrm flipH="false" flipV="false" rot="0">
            <a:off x="3048000" y="0"/>
            <a:ext cx="876300" cy="1076325"/>
          </a:xfrm>
          <a:custGeom>
            <a:avLst/>
            <a:gdLst/>
            <a:ahLst/>
            <a:cxnLst/>
            <a:rect r="r" b="b" t="t" l="l"/>
            <a:pathLst>
              <a:path h="1076325" w="876300">
                <a:moveTo>
                  <a:pt x="0" y="0"/>
                </a:moveTo>
                <a:lnTo>
                  <a:pt x="876300" y="0"/>
                </a:lnTo>
                <a:lnTo>
                  <a:pt x="876300" y="1076325"/>
                </a:lnTo>
                <a:lnTo>
                  <a:pt x="0" y="1076325"/>
                </a:lnTo>
                <a:lnTo>
                  <a:pt x="0" y="0"/>
                </a:lnTo>
                <a:close/>
              </a:path>
            </a:pathLst>
          </a:custGeom>
          <a:blipFill>
            <a:blip r:embed="rId3"/>
            <a:stretch>
              <a:fillRect l="0" t="0" r="0" b="0"/>
            </a:stretch>
          </a:blipFill>
        </p:spPr>
      </p:sp>
      <p:sp>
        <p:nvSpPr>
          <p:cNvPr name="TextBox 5" id="5"/>
          <p:cNvSpPr txBox="true"/>
          <p:nvPr/>
        </p:nvSpPr>
        <p:spPr>
          <a:xfrm rot="0">
            <a:off x="7291016" y="369600"/>
            <a:ext cx="3584702" cy="1471588"/>
          </a:xfrm>
          <a:prstGeom prst="rect">
            <a:avLst/>
          </a:prstGeom>
        </p:spPr>
        <p:txBody>
          <a:bodyPr anchor="t" rtlCol="false" tIns="0" lIns="0" bIns="0" rIns="0">
            <a:spAutoFit/>
          </a:bodyPr>
          <a:lstStyle/>
          <a:p>
            <a:pPr algn="ctr">
              <a:lnSpc>
                <a:spcPts val="12587"/>
              </a:lnSpc>
            </a:pPr>
            <a:r>
              <a:rPr lang="en-US" b="true" sz="7403" spc="-72">
                <a:solidFill>
                  <a:srgbClr val="12568B"/>
                </a:solidFill>
                <a:latin typeface="Inter Semi-Bold"/>
                <a:ea typeface="Inter Semi-Bold"/>
                <a:cs typeface="Inter Semi-Bold"/>
                <a:sym typeface="Inter Semi-Bold"/>
              </a:rPr>
              <a:t>Riesgos</a:t>
            </a:r>
          </a:p>
        </p:txBody>
      </p:sp>
      <p:sp>
        <p:nvSpPr>
          <p:cNvPr name="Freeform 6" id="6"/>
          <p:cNvSpPr/>
          <p:nvPr/>
        </p:nvSpPr>
        <p:spPr>
          <a:xfrm flipH="false" flipV="false" rot="0">
            <a:off x="5219700" y="1924050"/>
            <a:ext cx="7848600" cy="219075"/>
          </a:xfrm>
          <a:custGeom>
            <a:avLst/>
            <a:gdLst/>
            <a:ahLst/>
            <a:cxnLst/>
            <a:rect r="r" b="b" t="t" l="l"/>
            <a:pathLst>
              <a:path h="219075" w="7848600">
                <a:moveTo>
                  <a:pt x="0" y="0"/>
                </a:moveTo>
                <a:lnTo>
                  <a:pt x="7848600" y="0"/>
                </a:lnTo>
                <a:lnTo>
                  <a:pt x="7848600" y="219075"/>
                </a:lnTo>
                <a:lnTo>
                  <a:pt x="0" y="219075"/>
                </a:lnTo>
                <a:lnTo>
                  <a:pt x="0" y="0"/>
                </a:lnTo>
                <a:close/>
              </a:path>
            </a:pathLst>
          </a:custGeom>
          <a:blipFill>
            <a:blip r:embed="rId4"/>
            <a:stretch>
              <a:fillRect l="0" t="0" r="0" b="0"/>
            </a:stretch>
          </a:blipFill>
        </p:spPr>
      </p:sp>
      <p:sp>
        <p:nvSpPr>
          <p:cNvPr name="TextBox 7" id="7"/>
          <p:cNvSpPr txBox="true"/>
          <p:nvPr/>
        </p:nvSpPr>
        <p:spPr>
          <a:xfrm rot="0">
            <a:off x="2752529" y="2415757"/>
            <a:ext cx="12493978" cy="965072"/>
          </a:xfrm>
          <a:prstGeom prst="rect">
            <a:avLst/>
          </a:prstGeom>
        </p:spPr>
        <p:txBody>
          <a:bodyPr anchor="t" rtlCol="false" tIns="0" lIns="0" bIns="0" rIns="0">
            <a:spAutoFit/>
          </a:bodyPr>
          <a:lstStyle/>
          <a:p>
            <a:pPr algn="ctr">
              <a:lnSpc>
                <a:spcPts val="3997"/>
              </a:lnSpc>
            </a:pPr>
            <a:r>
              <a:rPr lang="en-US" b="true" sz="2351" spc="-82">
                <a:solidFill>
                  <a:srgbClr val="191919"/>
                </a:solidFill>
                <a:latin typeface="Inter Semi-Bold"/>
                <a:ea typeface="Inter Semi-Bold"/>
                <a:cs typeface="Inter Semi-Bold"/>
                <a:sym typeface="Inter Semi-Bold"/>
              </a:rPr>
              <a:t>Durante el desarrollo del proyecto se nos han presentado los siguientes riesgos que hemos identificado.</a:t>
            </a:r>
          </a:p>
        </p:txBody>
      </p:sp>
      <p:sp>
        <p:nvSpPr>
          <p:cNvPr name="Freeform 8" id="8"/>
          <p:cNvSpPr/>
          <p:nvPr/>
        </p:nvSpPr>
        <p:spPr>
          <a:xfrm flipH="false" flipV="false" rot="0">
            <a:off x="1811030" y="4067175"/>
            <a:ext cx="15256136" cy="5373981"/>
          </a:xfrm>
          <a:custGeom>
            <a:avLst/>
            <a:gdLst/>
            <a:ahLst/>
            <a:cxnLst/>
            <a:rect r="r" b="b" t="t" l="l"/>
            <a:pathLst>
              <a:path h="5373981" w="15256136">
                <a:moveTo>
                  <a:pt x="0" y="0"/>
                </a:moveTo>
                <a:lnTo>
                  <a:pt x="15256136" y="0"/>
                </a:lnTo>
                <a:lnTo>
                  <a:pt x="15256136" y="5373981"/>
                </a:lnTo>
                <a:lnTo>
                  <a:pt x="0" y="5373981"/>
                </a:lnTo>
                <a:lnTo>
                  <a:pt x="0" y="0"/>
                </a:lnTo>
                <a:close/>
              </a:path>
            </a:pathLst>
          </a:custGeom>
          <a:blipFill>
            <a:blip r:embed="rId5"/>
            <a:stretch>
              <a:fillRect l="0" t="0" r="0" b="0"/>
            </a:stretch>
          </a:blipFill>
        </p:spPr>
      </p:sp>
      <p:sp>
        <p:nvSpPr>
          <p:cNvPr name="Freeform 9" id="9"/>
          <p:cNvSpPr/>
          <p:nvPr/>
        </p:nvSpPr>
        <p:spPr>
          <a:xfrm flipH="false" flipV="false" rot="0">
            <a:off x="2686050" y="4439093"/>
            <a:ext cx="3057525" cy="3219450"/>
          </a:xfrm>
          <a:custGeom>
            <a:avLst/>
            <a:gdLst/>
            <a:ahLst/>
            <a:cxnLst/>
            <a:rect r="r" b="b" t="t" l="l"/>
            <a:pathLst>
              <a:path h="3219450" w="3057525">
                <a:moveTo>
                  <a:pt x="0" y="0"/>
                </a:moveTo>
                <a:lnTo>
                  <a:pt x="3057525" y="0"/>
                </a:lnTo>
                <a:lnTo>
                  <a:pt x="3057525" y="3219450"/>
                </a:lnTo>
                <a:lnTo>
                  <a:pt x="0" y="3219450"/>
                </a:lnTo>
                <a:lnTo>
                  <a:pt x="0" y="0"/>
                </a:lnTo>
                <a:close/>
              </a:path>
            </a:pathLst>
          </a:custGeom>
          <a:blipFill>
            <a:blip r:embed="rId6"/>
            <a:stretch>
              <a:fillRect l="0" t="0" r="0" b="0"/>
            </a:stretch>
          </a:blipFill>
        </p:spPr>
      </p:sp>
      <p:sp>
        <p:nvSpPr>
          <p:cNvPr name="Freeform 10" id="10"/>
          <p:cNvSpPr/>
          <p:nvPr/>
        </p:nvSpPr>
        <p:spPr>
          <a:xfrm flipH="false" flipV="false" rot="0">
            <a:off x="3124200" y="5035003"/>
            <a:ext cx="2181225" cy="1933575"/>
          </a:xfrm>
          <a:custGeom>
            <a:avLst/>
            <a:gdLst/>
            <a:ahLst/>
            <a:cxnLst/>
            <a:rect r="r" b="b" t="t" l="l"/>
            <a:pathLst>
              <a:path h="1933575" w="2181225">
                <a:moveTo>
                  <a:pt x="0" y="0"/>
                </a:moveTo>
                <a:lnTo>
                  <a:pt x="2181225" y="0"/>
                </a:lnTo>
                <a:lnTo>
                  <a:pt x="2181225" y="1933575"/>
                </a:lnTo>
                <a:lnTo>
                  <a:pt x="0" y="1933575"/>
                </a:lnTo>
                <a:lnTo>
                  <a:pt x="0" y="0"/>
                </a:lnTo>
                <a:close/>
              </a:path>
            </a:pathLst>
          </a:custGeom>
          <a:blipFill>
            <a:blip r:embed="rId7"/>
            <a:stretch>
              <a:fillRect l="0" t="0" r="0" b="0"/>
            </a:stretch>
          </a:blipFill>
        </p:spPr>
      </p:sp>
      <p:sp>
        <p:nvSpPr>
          <p:cNvPr name="Freeform 11" id="11"/>
          <p:cNvSpPr/>
          <p:nvPr/>
        </p:nvSpPr>
        <p:spPr>
          <a:xfrm flipH="false" flipV="false" rot="0">
            <a:off x="5876925" y="4067175"/>
            <a:ext cx="219075" cy="4505325"/>
          </a:xfrm>
          <a:custGeom>
            <a:avLst/>
            <a:gdLst/>
            <a:ahLst/>
            <a:cxnLst/>
            <a:rect r="r" b="b" t="t" l="l"/>
            <a:pathLst>
              <a:path h="4505325" w="219075">
                <a:moveTo>
                  <a:pt x="0" y="0"/>
                </a:moveTo>
                <a:lnTo>
                  <a:pt x="219075" y="0"/>
                </a:lnTo>
                <a:lnTo>
                  <a:pt x="219075" y="4505325"/>
                </a:lnTo>
                <a:lnTo>
                  <a:pt x="0" y="4505325"/>
                </a:lnTo>
                <a:lnTo>
                  <a:pt x="0" y="0"/>
                </a:lnTo>
                <a:close/>
              </a:path>
            </a:pathLst>
          </a:custGeom>
          <a:blipFill>
            <a:blip r:embed="rId8"/>
            <a:stretch>
              <a:fillRect l="0" t="0" r="0" b="0"/>
            </a:stretch>
          </a:blipFill>
        </p:spPr>
      </p:sp>
      <p:sp>
        <p:nvSpPr>
          <p:cNvPr name="TextBox 12" id="12"/>
          <p:cNvSpPr txBox="true"/>
          <p:nvPr/>
        </p:nvSpPr>
        <p:spPr>
          <a:xfrm rot="0">
            <a:off x="6172844" y="4932609"/>
            <a:ext cx="9579637" cy="404773"/>
          </a:xfrm>
          <a:prstGeom prst="rect">
            <a:avLst/>
          </a:prstGeom>
        </p:spPr>
        <p:txBody>
          <a:bodyPr anchor="t" rtlCol="false" tIns="0" lIns="0" bIns="0" rIns="0">
            <a:spAutoFit/>
          </a:bodyPr>
          <a:lstStyle/>
          <a:p>
            <a:pPr algn="l" marL="436955" indent="-218477" lvl="1">
              <a:lnSpc>
                <a:spcPts val="3442"/>
              </a:lnSpc>
              <a:buFont typeface="Arial"/>
              <a:buChar char="•"/>
            </a:pPr>
            <a:r>
              <a:rPr lang="en-US" b="true" sz="2024" spc="-71">
                <a:solidFill>
                  <a:srgbClr val="191919"/>
                </a:solidFill>
                <a:latin typeface="Inter Semi-Bold"/>
                <a:ea typeface="Inter Semi-Bold"/>
                <a:cs typeface="Inter Semi-Bold"/>
                <a:sym typeface="Inter Semi-Bold"/>
              </a:rPr>
              <a:t>Cambio o eliminación de tareas debido a modificaciones dentro del proyecto.</a:t>
            </a:r>
          </a:p>
        </p:txBody>
      </p:sp>
      <p:sp>
        <p:nvSpPr>
          <p:cNvPr name="TextBox 13" id="13"/>
          <p:cNvSpPr txBox="true"/>
          <p:nvPr/>
        </p:nvSpPr>
        <p:spPr>
          <a:xfrm rot="0">
            <a:off x="6226035" y="5897015"/>
            <a:ext cx="4260524" cy="404773"/>
          </a:xfrm>
          <a:prstGeom prst="rect">
            <a:avLst/>
          </a:prstGeom>
        </p:spPr>
        <p:txBody>
          <a:bodyPr anchor="t" rtlCol="false" tIns="0" lIns="0" bIns="0" rIns="0">
            <a:spAutoFit/>
          </a:bodyPr>
          <a:lstStyle/>
          <a:p>
            <a:pPr algn="l" marL="436955" indent="-218477" lvl="1">
              <a:lnSpc>
                <a:spcPts val="3442"/>
              </a:lnSpc>
              <a:buFont typeface="Arial"/>
              <a:buChar char="•"/>
            </a:pPr>
            <a:r>
              <a:rPr lang="en-US" b="true" sz="2024" spc="-71">
                <a:solidFill>
                  <a:srgbClr val="191919"/>
                </a:solidFill>
                <a:latin typeface="Inter Semi-Bold"/>
                <a:ea typeface="Inter Semi-Bold"/>
                <a:cs typeface="Inter Semi-Bold"/>
                <a:sym typeface="Inter Semi-Bold"/>
              </a:rPr>
              <a:t>Mal calculo del tiempo en tareas</a:t>
            </a:r>
          </a:p>
        </p:txBody>
      </p:sp>
      <p:sp>
        <p:nvSpPr>
          <p:cNvPr name="TextBox 14" id="14"/>
          <p:cNvSpPr txBox="true"/>
          <p:nvPr/>
        </p:nvSpPr>
        <p:spPr>
          <a:xfrm rot="0">
            <a:off x="6174284" y="6825145"/>
            <a:ext cx="9435617" cy="833398"/>
          </a:xfrm>
          <a:prstGeom prst="rect">
            <a:avLst/>
          </a:prstGeom>
        </p:spPr>
        <p:txBody>
          <a:bodyPr anchor="t" rtlCol="false" tIns="0" lIns="0" bIns="0" rIns="0">
            <a:spAutoFit/>
          </a:bodyPr>
          <a:lstStyle/>
          <a:p>
            <a:pPr algn="l" marL="436955" indent="-218477" lvl="1">
              <a:lnSpc>
                <a:spcPts val="3442"/>
              </a:lnSpc>
              <a:buFont typeface="Arial"/>
              <a:buChar char="•"/>
            </a:pPr>
            <a:r>
              <a:rPr lang="en-US" b="true" sz="2024" spc="-71">
                <a:solidFill>
                  <a:srgbClr val="191919"/>
                </a:solidFill>
                <a:latin typeface="Inter Semi-Bold"/>
                <a:ea typeface="Inter Semi-Bold"/>
                <a:cs typeface="Inter Semi-Bold"/>
                <a:sym typeface="Inter Semi-Bold"/>
              </a:rPr>
              <a:t>Retrasos en los tiempos de desarrollo debido a que el equipo de trabajo este realizando practicas profesionales.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4375132" y="579638"/>
            <a:ext cx="9537736" cy="901199"/>
          </a:xfrm>
          <a:prstGeom prst="rect">
            <a:avLst/>
          </a:prstGeom>
        </p:spPr>
        <p:txBody>
          <a:bodyPr anchor="t" rtlCol="false" tIns="0" lIns="0" bIns="0" rIns="0">
            <a:spAutoFit/>
          </a:bodyPr>
          <a:lstStyle/>
          <a:p>
            <a:pPr algn="ctr" marL="0" indent="0" lvl="0">
              <a:lnSpc>
                <a:spcPts val="7201"/>
              </a:lnSpc>
            </a:pPr>
            <a:r>
              <a:rPr lang="en-US" b="true" sz="5539">
                <a:solidFill>
                  <a:srgbClr val="0F5995"/>
                </a:solidFill>
                <a:latin typeface="Open Sauce Bold"/>
                <a:ea typeface="Open Sauce Bold"/>
                <a:cs typeface="Open Sauce Bold"/>
                <a:sym typeface="Open Sauce Bold"/>
              </a:rPr>
              <a:t>Mockup</a:t>
            </a:r>
          </a:p>
        </p:txBody>
      </p:sp>
      <p:pic>
        <p:nvPicPr>
          <p:cNvPr name="Picture 3" id="3"/>
          <p:cNvPicPr>
            <a:picLocks noChangeAspect="true"/>
          </p:cNvPicPr>
          <p:nvPr/>
        </p:nvPicPr>
        <p:blipFill>
          <a:blip r:embed="rId2"/>
          <a:stretch>
            <a:fillRect/>
          </a:stretch>
        </p:blipFill>
        <p:spPr>
          <a:xfrm rot="0">
            <a:off x="-1371600" y="-133350"/>
            <a:ext cx="21031200" cy="11887200"/>
          </a:xfrm>
          <a:prstGeom prst="rect">
            <a:avLst/>
          </a:prstGeom>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85662" y="150498"/>
            <a:ext cx="3956253" cy="972579"/>
          </a:xfrm>
          <a:custGeom>
            <a:avLst/>
            <a:gdLst/>
            <a:ahLst/>
            <a:cxnLst/>
            <a:rect r="r" b="b" t="t" l="l"/>
            <a:pathLst>
              <a:path h="972579" w="3956253">
                <a:moveTo>
                  <a:pt x="0" y="0"/>
                </a:moveTo>
                <a:lnTo>
                  <a:pt x="3956254" y="0"/>
                </a:lnTo>
                <a:lnTo>
                  <a:pt x="3956254" y="972579"/>
                </a:lnTo>
                <a:lnTo>
                  <a:pt x="0" y="972579"/>
                </a:lnTo>
                <a:lnTo>
                  <a:pt x="0" y="0"/>
                </a:lnTo>
                <a:close/>
              </a:path>
            </a:pathLst>
          </a:custGeom>
          <a:blipFill>
            <a:blip r:embed="rId2"/>
            <a:stretch>
              <a:fillRect l="0" t="0" r="0" b="0"/>
            </a:stretch>
          </a:blipFill>
        </p:spPr>
      </p:sp>
      <p:pic>
        <p:nvPicPr>
          <p:cNvPr name="Picture 3" id="3">
            <a:hlinkClick action="ppaction://media"/>
          </p:cNvPr>
          <p:cNvPicPr>
            <a:picLocks noChangeAspect="true"/>
          </p:cNvPicPr>
          <p:nvPr>
            <a:videoFile r:link="rId4"/>
            <p:extLst>
              <p:ext uri="{DAA4B4D4-6D71-4841-9C94-3DE7FCFB9230}">
                <p14:media xmlns:p14="http://schemas.microsoft.com/office/powerpoint/2010/main" r:embed="rId5"/>
              </p:ext>
            </p:extLst>
          </p:nvPr>
        </p:nvPicPr>
        <p:blipFill>
          <a:blip r:embed="rId3"/>
          <a:srcRect l="0" t="0" r="0" b="0"/>
          <a:stretch>
            <a:fillRect/>
          </a:stretch>
        </p:blipFill>
        <p:spPr>
          <a:xfrm flipH="false" flipV="false" rot="0">
            <a:off x="285662" y="264171"/>
            <a:ext cx="17728991" cy="9972557"/>
          </a:xfrm>
          <a:prstGeom prst="rect">
            <a:avLst/>
          </a:prstGeom>
        </p:spPr>
      </p:pic>
    </p:spTree>
  </p:cSld>
  <p:clrMapOvr>
    <a:masterClrMapping/>
  </p:clrMapOvr>
  <p:timing>
    <p:tnLst>
      <p:par>
        <p:cTn dur="indefinite" restart="never" nodeType="tmRoot">
          <p:childTnLst>
            <p:video>
              <p:cMediaNode vol="100000">
                <p:cTn fill="hold" display="false">
                  <p:stCondLst>
                    <p:cond delay="indefinite"/>
                  </p:stCondLst>
                </p:cTn>
                <p:tgtEl>
                  <p:spTgt spid="3"/>
                </p:tgtEl>
              </p:cMediaNode>
            </p:video>
          </p:childTnLst>
        </p:cTn>
      </p:par>
    </p:tnLst>
  </p:timing>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62770" y="7929562"/>
            <a:ext cx="3705225" cy="2362200"/>
          </a:xfrm>
          <a:custGeom>
            <a:avLst/>
            <a:gdLst/>
            <a:ahLst/>
            <a:cxnLst/>
            <a:rect r="r" b="b" t="t" l="l"/>
            <a:pathLst>
              <a:path h="2362200" w="3705225">
                <a:moveTo>
                  <a:pt x="0" y="0"/>
                </a:moveTo>
                <a:lnTo>
                  <a:pt x="3705225" y="0"/>
                </a:lnTo>
                <a:lnTo>
                  <a:pt x="3705225" y="2362200"/>
                </a:lnTo>
                <a:lnTo>
                  <a:pt x="0" y="2362200"/>
                </a:lnTo>
                <a:lnTo>
                  <a:pt x="0" y="0"/>
                </a:lnTo>
                <a:close/>
              </a:path>
            </a:pathLst>
          </a:custGeom>
          <a:blipFill>
            <a:blip r:embed="rId3">
              <a:alphaModFix amt="40000"/>
            </a:blip>
            <a:stretch>
              <a:fillRect l="0" t="0" r="0" b="0"/>
            </a:stretch>
          </a:blipFill>
        </p:spPr>
      </p:sp>
      <p:sp>
        <p:nvSpPr>
          <p:cNvPr name="Freeform 4" id="4"/>
          <p:cNvSpPr/>
          <p:nvPr/>
        </p:nvSpPr>
        <p:spPr>
          <a:xfrm flipH="false" flipV="false" rot="0">
            <a:off x="14363700" y="0"/>
            <a:ext cx="3924300" cy="2362200"/>
          </a:xfrm>
          <a:custGeom>
            <a:avLst/>
            <a:gdLst/>
            <a:ahLst/>
            <a:cxnLst/>
            <a:rect r="r" b="b" t="t" l="l"/>
            <a:pathLst>
              <a:path h="2362200" w="3924300">
                <a:moveTo>
                  <a:pt x="0" y="0"/>
                </a:moveTo>
                <a:lnTo>
                  <a:pt x="3924300" y="0"/>
                </a:lnTo>
                <a:lnTo>
                  <a:pt x="3924300" y="2362200"/>
                </a:lnTo>
                <a:lnTo>
                  <a:pt x="0" y="2362200"/>
                </a:lnTo>
                <a:lnTo>
                  <a:pt x="0" y="0"/>
                </a:lnTo>
                <a:close/>
              </a:path>
            </a:pathLst>
          </a:custGeom>
          <a:blipFill>
            <a:blip r:embed="rId4">
              <a:alphaModFix amt="40000"/>
            </a:blip>
            <a:stretch>
              <a:fillRect l="0" t="0" r="0" b="0"/>
            </a:stretch>
          </a:blipFill>
        </p:spPr>
      </p:sp>
      <p:sp>
        <p:nvSpPr>
          <p:cNvPr name="Freeform 5" id="5"/>
          <p:cNvSpPr/>
          <p:nvPr/>
        </p:nvSpPr>
        <p:spPr>
          <a:xfrm flipH="false" flipV="false" rot="0">
            <a:off x="16764000" y="8572500"/>
            <a:ext cx="1524000" cy="1504950"/>
          </a:xfrm>
          <a:custGeom>
            <a:avLst/>
            <a:gdLst/>
            <a:ahLst/>
            <a:cxnLst/>
            <a:rect r="r" b="b" t="t" l="l"/>
            <a:pathLst>
              <a:path h="1504950" w="1524000">
                <a:moveTo>
                  <a:pt x="0" y="0"/>
                </a:moveTo>
                <a:lnTo>
                  <a:pt x="1524000" y="0"/>
                </a:lnTo>
                <a:lnTo>
                  <a:pt x="1524000" y="1504950"/>
                </a:lnTo>
                <a:lnTo>
                  <a:pt x="0" y="1504950"/>
                </a:lnTo>
                <a:lnTo>
                  <a:pt x="0" y="0"/>
                </a:lnTo>
                <a:close/>
              </a:path>
            </a:pathLst>
          </a:custGeom>
          <a:blipFill>
            <a:blip r:embed="rId5"/>
            <a:stretch>
              <a:fillRect l="0" t="0" r="0" b="0"/>
            </a:stretch>
          </a:blipFill>
        </p:spPr>
      </p:sp>
      <p:sp>
        <p:nvSpPr>
          <p:cNvPr name="TextBox 6" id="6"/>
          <p:cNvSpPr txBox="true"/>
          <p:nvPr/>
        </p:nvSpPr>
        <p:spPr>
          <a:xfrm rot="0">
            <a:off x="234814" y="256170"/>
            <a:ext cx="3307641" cy="928530"/>
          </a:xfrm>
          <a:prstGeom prst="rect">
            <a:avLst/>
          </a:prstGeom>
        </p:spPr>
        <p:txBody>
          <a:bodyPr anchor="t" rtlCol="false" tIns="0" lIns="0" bIns="0" rIns="0">
            <a:spAutoFit/>
          </a:bodyPr>
          <a:lstStyle/>
          <a:p>
            <a:pPr algn="l">
              <a:lnSpc>
                <a:spcPts val="7448"/>
              </a:lnSpc>
            </a:pPr>
            <a:r>
              <a:rPr lang="en-US" sz="6206" b="true">
                <a:solidFill>
                  <a:srgbClr val="F4B324"/>
                </a:solidFill>
                <a:latin typeface="Open Sauce Bold"/>
                <a:ea typeface="Open Sauce Bold"/>
                <a:cs typeface="Open Sauce Bold"/>
                <a:sym typeface="Open Sauce Bold"/>
              </a:rPr>
              <a:t>Duoc</a:t>
            </a:r>
            <a:r>
              <a:rPr lang="en-US" sz="6206" b="true">
                <a:solidFill>
                  <a:srgbClr val="0B2941"/>
                </a:solidFill>
                <a:latin typeface="Open Sauce Bold"/>
                <a:ea typeface="Open Sauce Bold"/>
                <a:cs typeface="Open Sauce Bold"/>
                <a:sym typeface="Open Sauce Bold"/>
              </a:rPr>
              <a:t>UC</a:t>
            </a:r>
          </a:p>
        </p:txBody>
      </p:sp>
      <p:sp>
        <p:nvSpPr>
          <p:cNvPr name="Freeform 7" id="7"/>
          <p:cNvSpPr/>
          <p:nvPr/>
        </p:nvSpPr>
        <p:spPr>
          <a:xfrm flipH="false" flipV="false" rot="0">
            <a:off x="3257550" y="0"/>
            <a:ext cx="885825" cy="1076325"/>
          </a:xfrm>
          <a:custGeom>
            <a:avLst/>
            <a:gdLst/>
            <a:ahLst/>
            <a:cxnLst/>
            <a:rect r="r" b="b" t="t" l="l"/>
            <a:pathLst>
              <a:path h="1076325" w="885825">
                <a:moveTo>
                  <a:pt x="0" y="0"/>
                </a:moveTo>
                <a:lnTo>
                  <a:pt x="885825" y="0"/>
                </a:lnTo>
                <a:lnTo>
                  <a:pt x="885825" y="1076325"/>
                </a:lnTo>
                <a:lnTo>
                  <a:pt x="0" y="1076325"/>
                </a:lnTo>
                <a:lnTo>
                  <a:pt x="0" y="0"/>
                </a:lnTo>
                <a:close/>
              </a:path>
            </a:pathLst>
          </a:custGeom>
          <a:blipFill>
            <a:blip r:embed="rId6"/>
            <a:stretch>
              <a:fillRect l="0" t="0" r="0" b="0"/>
            </a:stretch>
          </a:blipFill>
        </p:spPr>
      </p:sp>
      <p:sp>
        <p:nvSpPr>
          <p:cNvPr name="TextBox 8" id="8"/>
          <p:cNvSpPr txBox="true"/>
          <p:nvPr/>
        </p:nvSpPr>
        <p:spPr>
          <a:xfrm rot="0">
            <a:off x="6026042" y="497271"/>
            <a:ext cx="5819972" cy="839250"/>
          </a:xfrm>
          <a:prstGeom prst="rect">
            <a:avLst/>
          </a:prstGeom>
        </p:spPr>
        <p:txBody>
          <a:bodyPr anchor="t" rtlCol="false" tIns="0" lIns="0" bIns="0" rIns="0">
            <a:spAutoFit/>
          </a:bodyPr>
          <a:lstStyle/>
          <a:p>
            <a:pPr algn="ctr">
              <a:lnSpc>
                <a:spcPts val="6666"/>
              </a:lnSpc>
            </a:pPr>
            <a:r>
              <a:rPr lang="en-US" sz="5554" b="true">
                <a:solidFill>
                  <a:srgbClr val="0A4B84"/>
                </a:solidFill>
                <a:latin typeface="Open Sauce Bold"/>
                <a:ea typeface="Open Sauce Bold"/>
                <a:cs typeface="Open Sauce Bold"/>
                <a:sym typeface="Open Sauce Bold"/>
              </a:rPr>
              <a:t>Proximos pasos</a:t>
            </a:r>
          </a:p>
        </p:txBody>
      </p:sp>
      <p:sp>
        <p:nvSpPr>
          <p:cNvPr name="Freeform 9" id="9"/>
          <p:cNvSpPr/>
          <p:nvPr/>
        </p:nvSpPr>
        <p:spPr>
          <a:xfrm flipH="false" flipV="false" rot="0">
            <a:off x="8486775" y="1495425"/>
            <a:ext cx="1314450" cy="219075"/>
          </a:xfrm>
          <a:custGeom>
            <a:avLst/>
            <a:gdLst/>
            <a:ahLst/>
            <a:cxnLst/>
            <a:rect r="r" b="b" t="t" l="l"/>
            <a:pathLst>
              <a:path h="219075" w="1314450">
                <a:moveTo>
                  <a:pt x="0" y="0"/>
                </a:moveTo>
                <a:lnTo>
                  <a:pt x="1314450" y="0"/>
                </a:lnTo>
                <a:lnTo>
                  <a:pt x="1314450" y="219075"/>
                </a:lnTo>
                <a:lnTo>
                  <a:pt x="0" y="219075"/>
                </a:lnTo>
                <a:lnTo>
                  <a:pt x="0" y="0"/>
                </a:lnTo>
                <a:close/>
              </a:path>
            </a:pathLst>
          </a:custGeom>
          <a:blipFill>
            <a:blip r:embed="rId7"/>
            <a:stretch>
              <a:fillRect l="0" t="0" r="0" b="0"/>
            </a:stretch>
          </a:blipFill>
        </p:spPr>
      </p:sp>
      <p:sp>
        <p:nvSpPr>
          <p:cNvPr name="Freeform 10" id="10"/>
          <p:cNvSpPr/>
          <p:nvPr/>
        </p:nvSpPr>
        <p:spPr>
          <a:xfrm flipH="false" flipV="false" rot="0">
            <a:off x="5438775" y="2143125"/>
            <a:ext cx="8496300" cy="1076325"/>
          </a:xfrm>
          <a:custGeom>
            <a:avLst/>
            <a:gdLst/>
            <a:ahLst/>
            <a:cxnLst/>
            <a:rect r="r" b="b" t="t" l="l"/>
            <a:pathLst>
              <a:path h="1076325" w="8496300">
                <a:moveTo>
                  <a:pt x="0" y="0"/>
                </a:moveTo>
                <a:lnTo>
                  <a:pt x="8496300" y="0"/>
                </a:lnTo>
                <a:lnTo>
                  <a:pt x="8496300" y="1076325"/>
                </a:lnTo>
                <a:lnTo>
                  <a:pt x="0" y="1076325"/>
                </a:lnTo>
                <a:lnTo>
                  <a:pt x="0" y="0"/>
                </a:lnTo>
                <a:close/>
              </a:path>
            </a:pathLst>
          </a:custGeom>
          <a:blipFill>
            <a:blip r:embed="rId8"/>
            <a:stretch>
              <a:fillRect l="0" t="0" r="0" b="0"/>
            </a:stretch>
          </a:blipFill>
        </p:spPr>
      </p:sp>
      <p:sp>
        <p:nvSpPr>
          <p:cNvPr name="Freeform 11" id="11"/>
          <p:cNvSpPr/>
          <p:nvPr/>
        </p:nvSpPr>
        <p:spPr>
          <a:xfrm flipH="false" flipV="false" rot="0">
            <a:off x="5657850" y="2143125"/>
            <a:ext cx="876300" cy="857250"/>
          </a:xfrm>
          <a:custGeom>
            <a:avLst/>
            <a:gdLst/>
            <a:ahLst/>
            <a:cxnLst/>
            <a:rect r="r" b="b" t="t" l="l"/>
            <a:pathLst>
              <a:path h="857250" w="876300">
                <a:moveTo>
                  <a:pt x="0" y="0"/>
                </a:moveTo>
                <a:lnTo>
                  <a:pt x="876300" y="0"/>
                </a:lnTo>
                <a:lnTo>
                  <a:pt x="876300" y="857250"/>
                </a:lnTo>
                <a:lnTo>
                  <a:pt x="0" y="857250"/>
                </a:lnTo>
                <a:lnTo>
                  <a:pt x="0" y="0"/>
                </a:lnTo>
                <a:close/>
              </a:path>
            </a:pathLst>
          </a:custGeom>
          <a:blipFill>
            <a:blip r:embed="rId9"/>
            <a:stretch>
              <a:fillRect l="0" t="0" r="0" b="0"/>
            </a:stretch>
          </a:blipFill>
        </p:spPr>
      </p:sp>
      <p:sp>
        <p:nvSpPr>
          <p:cNvPr name="Freeform 12" id="12"/>
          <p:cNvSpPr/>
          <p:nvPr/>
        </p:nvSpPr>
        <p:spPr>
          <a:xfrm flipH="false" flipV="false" rot="0">
            <a:off x="6524625" y="2143125"/>
            <a:ext cx="228600" cy="857250"/>
          </a:xfrm>
          <a:custGeom>
            <a:avLst/>
            <a:gdLst/>
            <a:ahLst/>
            <a:cxnLst/>
            <a:rect r="r" b="b" t="t" l="l"/>
            <a:pathLst>
              <a:path h="857250" w="228600">
                <a:moveTo>
                  <a:pt x="0" y="0"/>
                </a:moveTo>
                <a:lnTo>
                  <a:pt x="228600" y="0"/>
                </a:lnTo>
                <a:lnTo>
                  <a:pt x="228600" y="857250"/>
                </a:lnTo>
                <a:lnTo>
                  <a:pt x="0" y="857250"/>
                </a:lnTo>
                <a:lnTo>
                  <a:pt x="0" y="0"/>
                </a:lnTo>
                <a:close/>
              </a:path>
            </a:pathLst>
          </a:custGeom>
          <a:blipFill>
            <a:blip r:embed="rId10"/>
            <a:stretch>
              <a:fillRect l="0" t="0" r="0" b="0"/>
            </a:stretch>
          </a:blipFill>
        </p:spPr>
      </p:sp>
      <p:sp>
        <p:nvSpPr>
          <p:cNvPr name="TextBox 13" id="13"/>
          <p:cNvSpPr txBox="true"/>
          <p:nvPr/>
        </p:nvSpPr>
        <p:spPr>
          <a:xfrm rot="0">
            <a:off x="6911175" y="2486360"/>
            <a:ext cx="5398142" cy="285700"/>
          </a:xfrm>
          <a:prstGeom prst="rect">
            <a:avLst/>
          </a:prstGeom>
        </p:spPr>
        <p:txBody>
          <a:bodyPr anchor="t" rtlCol="false" tIns="0" lIns="0" bIns="0" rIns="0">
            <a:spAutoFit/>
          </a:bodyPr>
          <a:lstStyle/>
          <a:p>
            <a:pPr algn="l">
              <a:lnSpc>
                <a:spcPts val="2383"/>
              </a:lnSpc>
            </a:pPr>
            <a:r>
              <a:rPr lang="en-US" sz="1986" b="true">
                <a:solidFill>
                  <a:srgbClr val="2B2B2B"/>
                </a:solidFill>
                <a:latin typeface="Open Sauce Medium"/>
                <a:ea typeface="Open Sauce Medium"/>
                <a:cs typeface="Open Sauce Medium"/>
                <a:sym typeface="Open Sauce Medium"/>
              </a:rPr>
              <a:t>Conexión de ESP32 con publicador MQTT.</a:t>
            </a:r>
          </a:p>
        </p:txBody>
      </p:sp>
      <p:sp>
        <p:nvSpPr>
          <p:cNvPr name="Freeform 14" id="14"/>
          <p:cNvSpPr/>
          <p:nvPr/>
        </p:nvSpPr>
        <p:spPr>
          <a:xfrm flipH="false" flipV="false" rot="0">
            <a:off x="5438775" y="3209925"/>
            <a:ext cx="8496300" cy="1076325"/>
          </a:xfrm>
          <a:custGeom>
            <a:avLst/>
            <a:gdLst/>
            <a:ahLst/>
            <a:cxnLst/>
            <a:rect r="r" b="b" t="t" l="l"/>
            <a:pathLst>
              <a:path h="1076325" w="8496300">
                <a:moveTo>
                  <a:pt x="0" y="0"/>
                </a:moveTo>
                <a:lnTo>
                  <a:pt x="8496300" y="0"/>
                </a:lnTo>
                <a:lnTo>
                  <a:pt x="8496300" y="1076325"/>
                </a:lnTo>
                <a:lnTo>
                  <a:pt x="0" y="1076325"/>
                </a:lnTo>
                <a:lnTo>
                  <a:pt x="0" y="0"/>
                </a:lnTo>
                <a:close/>
              </a:path>
            </a:pathLst>
          </a:custGeom>
          <a:blipFill>
            <a:blip r:embed="rId11"/>
            <a:stretch>
              <a:fillRect l="0" t="0" r="0" b="0"/>
            </a:stretch>
          </a:blipFill>
        </p:spPr>
      </p:sp>
      <p:sp>
        <p:nvSpPr>
          <p:cNvPr name="Freeform 15" id="15"/>
          <p:cNvSpPr/>
          <p:nvPr/>
        </p:nvSpPr>
        <p:spPr>
          <a:xfrm flipH="false" flipV="false" rot="0">
            <a:off x="5657850" y="3209925"/>
            <a:ext cx="876300" cy="866775"/>
          </a:xfrm>
          <a:custGeom>
            <a:avLst/>
            <a:gdLst/>
            <a:ahLst/>
            <a:cxnLst/>
            <a:rect r="r" b="b" t="t" l="l"/>
            <a:pathLst>
              <a:path h="866775" w="876300">
                <a:moveTo>
                  <a:pt x="0" y="0"/>
                </a:moveTo>
                <a:lnTo>
                  <a:pt x="876300" y="0"/>
                </a:lnTo>
                <a:lnTo>
                  <a:pt x="876300" y="866775"/>
                </a:lnTo>
                <a:lnTo>
                  <a:pt x="0" y="866775"/>
                </a:lnTo>
                <a:lnTo>
                  <a:pt x="0" y="0"/>
                </a:lnTo>
                <a:close/>
              </a:path>
            </a:pathLst>
          </a:custGeom>
          <a:blipFill>
            <a:blip r:embed="rId12"/>
            <a:stretch>
              <a:fillRect l="0" t="0" r="0" b="0"/>
            </a:stretch>
          </a:blipFill>
        </p:spPr>
      </p:sp>
      <p:sp>
        <p:nvSpPr>
          <p:cNvPr name="Freeform 16" id="16"/>
          <p:cNvSpPr/>
          <p:nvPr/>
        </p:nvSpPr>
        <p:spPr>
          <a:xfrm flipH="false" flipV="false" rot="0">
            <a:off x="6524625" y="3209925"/>
            <a:ext cx="228600" cy="866775"/>
          </a:xfrm>
          <a:custGeom>
            <a:avLst/>
            <a:gdLst/>
            <a:ahLst/>
            <a:cxnLst/>
            <a:rect r="r" b="b" t="t" l="l"/>
            <a:pathLst>
              <a:path h="866775" w="228600">
                <a:moveTo>
                  <a:pt x="0" y="0"/>
                </a:moveTo>
                <a:lnTo>
                  <a:pt x="228600" y="0"/>
                </a:lnTo>
                <a:lnTo>
                  <a:pt x="228600" y="866775"/>
                </a:lnTo>
                <a:lnTo>
                  <a:pt x="0" y="866775"/>
                </a:lnTo>
                <a:lnTo>
                  <a:pt x="0" y="0"/>
                </a:lnTo>
                <a:close/>
              </a:path>
            </a:pathLst>
          </a:custGeom>
          <a:blipFill>
            <a:blip r:embed="rId13"/>
            <a:stretch>
              <a:fillRect l="0" t="0" r="0" b="0"/>
            </a:stretch>
          </a:blipFill>
        </p:spPr>
      </p:sp>
      <p:sp>
        <p:nvSpPr>
          <p:cNvPr name="TextBox 17" id="17"/>
          <p:cNvSpPr txBox="true"/>
          <p:nvPr/>
        </p:nvSpPr>
        <p:spPr>
          <a:xfrm rot="0">
            <a:off x="6932717" y="3556248"/>
            <a:ext cx="3243944" cy="285700"/>
          </a:xfrm>
          <a:prstGeom prst="rect">
            <a:avLst/>
          </a:prstGeom>
        </p:spPr>
        <p:txBody>
          <a:bodyPr anchor="t" rtlCol="false" tIns="0" lIns="0" bIns="0" rIns="0">
            <a:spAutoFit/>
          </a:bodyPr>
          <a:lstStyle/>
          <a:p>
            <a:pPr algn="l">
              <a:lnSpc>
                <a:spcPts val="2383"/>
              </a:lnSpc>
            </a:pPr>
            <a:r>
              <a:rPr lang="en-US" sz="1986" b="true">
                <a:solidFill>
                  <a:srgbClr val="2B2B2B"/>
                </a:solidFill>
                <a:latin typeface="Open Sauce Medium"/>
                <a:ea typeface="Open Sauce Medium"/>
                <a:cs typeface="Open Sauce Medium"/>
                <a:sym typeface="Open Sauce Medium"/>
              </a:rPr>
              <a:t>Desarrollo Portal Cautivo.</a:t>
            </a:r>
          </a:p>
        </p:txBody>
      </p:sp>
      <p:sp>
        <p:nvSpPr>
          <p:cNvPr name="Freeform 18" id="18"/>
          <p:cNvSpPr/>
          <p:nvPr/>
        </p:nvSpPr>
        <p:spPr>
          <a:xfrm flipH="false" flipV="false" rot="0">
            <a:off x="5438775" y="4286250"/>
            <a:ext cx="8496300" cy="1076325"/>
          </a:xfrm>
          <a:custGeom>
            <a:avLst/>
            <a:gdLst/>
            <a:ahLst/>
            <a:cxnLst/>
            <a:rect r="r" b="b" t="t" l="l"/>
            <a:pathLst>
              <a:path h="1076325" w="8496300">
                <a:moveTo>
                  <a:pt x="0" y="0"/>
                </a:moveTo>
                <a:lnTo>
                  <a:pt x="8496300" y="0"/>
                </a:lnTo>
                <a:lnTo>
                  <a:pt x="8496300" y="1076325"/>
                </a:lnTo>
                <a:lnTo>
                  <a:pt x="0" y="1076325"/>
                </a:lnTo>
                <a:lnTo>
                  <a:pt x="0" y="0"/>
                </a:lnTo>
                <a:close/>
              </a:path>
            </a:pathLst>
          </a:custGeom>
          <a:blipFill>
            <a:blip r:embed="rId14"/>
            <a:stretch>
              <a:fillRect l="0" t="0" r="0" b="0"/>
            </a:stretch>
          </a:blipFill>
        </p:spPr>
      </p:sp>
      <p:sp>
        <p:nvSpPr>
          <p:cNvPr name="Freeform 19" id="19"/>
          <p:cNvSpPr/>
          <p:nvPr/>
        </p:nvSpPr>
        <p:spPr>
          <a:xfrm flipH="false" flipV="false" rot="0">
            <a:off x="5657850" y="4286250"/>
            <a:ext cx="876300" cy="857250"/>
          </a:xfrm>
          <a:custGeom>
            <a:avLst/>
            <a:gdLst/>
            <a:ahLst/>
            <a:cxnLst/>
            <a:rect r="r" b="b" t="t" l="l"/>
            <a:pathLst>
              <a:path h="857250" w="876300">
                <a:moveTo>
                  <a:pt x="0" y="0"/>
                </a:moveTo>
                <a:lnTo>
                  <a:pt x="876300" y="0"/>
                </a:lnTo>
                <a:lnTo>
                  <a:pt x="876300" y="857250"/>
                </a:lnTo>
                <a:lnTo>
                  <a:pt x="0" y="857250"/>
                </a:lnTo>
                <a:lnTo>
                  <a:pt x="0" y="0"/>
                </a:lnTo>
                <a:close/>
              </a:path>
            </a:pathLst>
          </a:custGeom>
          <a:blipFill>
            <a:blip r:embed="rId15"/>
            <a:stretch>
              <a:fillRect l="0" t="0" r="0" b="0"/>
            </a:stretch>
          </a:blipFill>
        </p:spPr>
      </p:sp>
      <p:sp>
        <p:nvSpPr>
          <p:cNvPr name="Freeform 20" id="20"/>
          <p:cNvSpPr/>
          <p:nvPr/>
        </p:nvSpPr>
        <p:spPr>
          <a:xfrm flipH="false" flipV="false" rot="0">
            <a:off x="6524625" y="4286250"/>
            <a:ext cx="228600" cy="857250"/>
          </a:xfrm>
          <a:custGeom>
            <a:avLst/>
            <a:gdLst/>
            <a:ahLst/>
            <a:cxnLst/>
            <a:rect r="r" b="b" t="t" l="l"/>
            <a:pathLst>
              <a:path h="857250" w="228600">
                <a:moveTo>
                  <a:pt x="0" y="0"/>
                </a:moveTo>
                <a:lnTo>
                  <a:pt x="228600" y="0"/>
                </a:lnTo>
                <a:lnTo>
                  <a:pt x="228600" y="857250"/>
                </a:lnTo>
                <a:lnTo>
                  <a:pt x="0" y="857250"/>
                </a:lnTo>
                <a:lnTo>
                  <a:pt x="0" y="0"/>
                </a:lnTo>
                <a:close/>
              </a:path>
            </a:pathLst>
          </a:custGeom>
          <a:blipFill>
            <a:blip r:embed="rId16"/>
            <a:stretch>
              <a:fillRect l="0" t="0" r="0" b="0"/>
            </a:stretch>
          </a:blipFill>
        </p:spPr>
      </p:sp>
      <p:sp>
        <p:nvSpPr>
          <p:cNvPr name="TextBox 21" id="21"/>
          <p:cNvSpPr txBox="true"/>
          <p:nvPr/>
        </p:nvSpPr>
        <p:spPr>
          <a:xfrm rot="0">
            <a:off x="6918029" y="4641205"/>
            <a:ext cx="4712762" cy="285700"/>
          </a:xfrm>
          <a:prstGeom prst="rect">
            <a:avLst/>
          </a:prstGeom>
        </p:spPr>
        <p:txBody>
          <a:bodyPr anchor="t" rtlCol="false" tIns="0" lIns="0" bIns="0" rIns="0">
            <a:spAutoFit/>
          </a:bodyPr>
          <a:lstStyle/>
          <a:p>
            <a:pPr algn="l">
              <a:lnSpc>
                <a:spcPts val="2383"/>
              </a:lnSpc>
            </a:pPr>
            <a:r>
              <a:rPr lang="en-US" sz="1986" b="true">
                <a:solidFill>
                  <a:srgbClr val="2B2B2B"/>
                </a:solidFill>
                <a:latin typeface="Open Sauce Medium"/>
                <a:ea typeface="Open Sauce Medium"/>
                <a:cs typeface="Open Sauce Medium"/>
                <a:sym typeface="Open Sauce Medium"/>
              </a:rPr>
              <a:t>Integrar seguridad a Panel de control</a:t>
            </a:r>
          </a:p>
        </p:txBody>
      </p:sp>
      <p:sp>
        <p:nvSpPr>
          <p:cNvPr name="Freeform 22" id="22"/>
          <p:cNvSpPr/>
          <p:nvPr/>
        </p:nvSpPr>
        <p:spPr>
          <a:xfrm flipH="false" flipV="false" rot="0">
            <a:off x="5438775" y="5353050"/>
            <a:ext cx="8496300" cy="1076325"/>
          </a:xfrm>
          <a:custGeom>
            <a:avLst/>
            <a:gdLst/>
            <a:ahLst/>
            <a:cxnLst/>
            <a:rect r="r" b="b" t="t" l="l"/>
            <a:pathLst>
              <a:path h="1076325" w="8496300">
                <a:moveTo>
                  <a:pt x="0" y="0"/>
                </a:moveTo>
                <a:lnTo>
                  <a:pt x="8496300" y="0"/>
                </a:lnTo>
                <a:lnTo>
                  <a:pt x="8496300" y="1076325"/>
                </a:lnTo>
                <a:lnTo>
                  <a:pt x="0" y="1076325"/>
                </a:lnTo>
                <a:lnTo>
                  <a:pt x="0" y="0"/>
                </a:lnTo>
                <a:close/>
              </a:path>
            </a:pathLst>
          </a:custGeom>
          <a:blipFill>
            <a:blip r:embed="rId17"/>
            <a:stretch>
              <a:fillRect l="0" t="0" r="0" b="0"/>
            </a:stretch>
          </a:blipFill>
        </p:spPr>
      </p:sp>
      <p:sp>
        <p:nvSpPr>
          <p:cNvPr name="Freeform 23" id="23"/>
          <p:cNvSpPr/>
          <p:nvPr/>
        </p:nvSpPr>
        <p:spPr>
          <a:xfrm flipH="false" flipV="false" rot="0">
            <a:off x="5657850" y="5353050"/>
            <a:ext cx="876300" cy="866775"/>
          </a:xfrm>
          <a:custGeom>
            <a:avLst/>
            <a:gdLst/>
            <a:ahLst/>
            <a:cxnLst/>
            <a:rect r="r" b="b" t="t" l="l"/>
            <a:pathLst>
              <a:path h="866775" w="876300">
                <a:moveTo>
                  <a:pt x="0" y="0"/>
                </a:moveTo>
                <a:lnTo>
                  <a:pt x="876300" y="0"/>
                </a:lnTo>
                <a:lnTo>
                  <a:pt x="876300" y="866775"/>
                </a:lnTo>
                <a:lnTo>
                  <a:pt x="0" y="866775"/>
                </a:lnTo>
                <a:lnTo>
                  <a:pt x="0" y="0"/>
                </a:lnTo>
                <a:close/>
              </a:path>
            </a:pathLst>
          </a:custGeom>
          <a:blipFill>
            <a:blip r:embed="rId18"/>
            <a:stretch>
              <a:fillRect l="0" t="0" r="0" b="0"/>
            </a:stretch>
          </a:blipFill>
        </p:spPr>
      </p:sp>
      <p:sp>
        <p:nvSpPr>
          <p:cNvPr name="Freeform 24" id="24"/>
          <p:cNvSpPr/>
          <p:nvPr/>
        </p:nvSpPr>
        <p:spPr>
          <a:xfrm flipH="false" flipV="false" rot="0">
            <a:off x="6524625" y="5353050"/>
            <a:ext cx="228600" cy="866775"/>
          </a:xfrm>
          <a:custGeom>
            <a:avLst/>
            <a:gdLst/>
            <a:ahLst/>
            <a:cxnLst/>
            <a:rect r="r" b="b" t="t" l="l"/>
            <a:pathLst>
              <a:path h="866775" w="228600">
                <a:moveTo>
                  <a:pt x="0" y="0"/>
                </a:moveTo>
                <a:lnTo>
                  <a:pt x="228600" y="0"/>
                </a:lnTo>
                <a:lnTo>
                  <a:pt x="228600" y="866775"/>
                </a:lnTo>
                <a:lnTo>
                  <a:pt x="0" y="866775"/>
                </a:lnTo>
                <a:lnTo>
                  <a:pt x="0" y="0"/>
                </a:lnTo>
                <a:close/>
              </a:path>
            </a:pathLst>
          </a:custGeom>
          <a:blipFill>
            <a:blip r:embed="rId19"/>
            <a:stretch>
              <a:fillRect l="0" t="0" r="0" b="0"/>
            </a:stretch>
          </a:blipFill>
        </p:spPr>
      </p:sp>
      <p:sp>
        <p:nvSpPr>
          <p:cNvPr name="TextBox 25" id="25"/>
          <p:cNvSpPr txBox="true"/>
          <p:nvPr/>
        </p:nvSpPr>
        <p:spPr>
          <a:xfrm rot="0">
            <a:off x="6937718" y="5711093"/>
            <a:ext cx="2743843" cy="285700"/>
          </a:xfrm>
          <a:prstGeom prst="rect">
            <a:avLst/>
          </a:prstGeom>
        </p:spPr>
        <p:txBody>
          <a:bodyPr anchor="t" rtlCol="false" tIns="0" lIns="0" bIns="0" rIns="0">
            <a:spAutoFit/>
          </a:bodyPr>
          <a:lstStyle/>
          <a:p>
            <a:pPr algn="l">
              <a:lnSpc>
                <a:spcPts val="2383"/>
              </a:lnSpc>
            </a:pPr>
            <a:r>
              <a:rPr lang="en-US" sz="1986" b="true">
                <a:solidFill>
                  <a:srgbClr val="2B2B2B"/>
                </a:solidFill>
                <a:latin typeface="Open Sauce Medium"/>
                <a:ea typeface="Open Sauce Medium"/>
                <a:cs typeface="Open Sauce Medium"/>
                <a:sym typeface="Open Sauce Medium"/>
              </a:rPr>
              <a:t>Pruebas de conexión.</a:t>
            </a:r>
          </a:p>
        </p:txBody>
      </p:sp>
      <p:sp>
        <p:nvSpPr>
          <p:cNvPr name="Freeform 26" id="26"/>
          <p:cNvSpPr/>
          <p:nvPr/>
        </p:nvSpPr>
        <p:spPr>
          <a:xfrm flipH="false" flipV="false" rot="0">
            <a:off x="5438775" y="6429375"/>
            <a:ext cx="8496300" cy="1076325"/>
          </a:xfrm>
          <a:custGeom>
            <a:avLst/>
            <a:gdLst/>
            <a:ahLst/>
            <a:cxnLst/>
            <a:rect r="r" b="b" t="t" l="l"/>
            <a:pathLst>
              <a:path h="1076325" w="8496300">
                <a:moveTo>
                  <a:pt x="0" y="0"/>
                </a:moveTo>
                <a:lnTo>
                  <a:pt x="8496300" y="0"/>
                </a:lnTo>
                <a:lnTo>
                  <a:pt x="8496300" y="1076325"/>
                </a:lnTo>
                <a:lnTo>
                  <a:pt x="0" y="1076325"/>
                </a:lnTo>
                <a:lnTo>
                  <a:pt x="0" y="0"/>
                </a:lnTo>
                <a:close/>
              </a:path>
            </a:pathLst>
          </a:custGeom>
          <a:blipFill>
            <a:blip r:embed="rId20"/>
            <a:stretch>
              <a:fillRect l="0" t="0" r="0" b="0"/>
            </a:stretch>
          </a:blipFill>
        </p:spPr>
      </p:sp>
      <p:sp>
        <p:nvSpPr>
          <p:cNvPr name="Freeform 27" id="27"/>
          <p:cNvSpPr/>
          <p:nvPr/>
        </p:nvSpPr>
        <p:spPr>
          <a:xfrm flipH="false" flipV="false" rot="0">
            <a:off x="5657850" y="6429375"/>
            <a:ext cx="876300" cy="857250"/>
          </a:xfrm>
          <a:custGeom>
            <a:avLst/>
            <a:gdLst/>
            <a:ahLst/>
            <a:cxnLst/>
            <a:rect r="r" b="b" t="t" l="l"/>
            <a:pathLst>
              <a:path h="857250" w="876300">
                <a:moveTo>
                  <a:pt x="0" y="0"/>
                </a:moveTo>
                <a:lnTo>
                  <a:pt x="876300" y="0"/>
                </a:lnTo>
                <a:lnTo>
                  <a:pt x="876300" y="857250"/>
                </a:lnTo>
                <a:lnTo>
                  <a:pt x="0" y="857250"/>
                </a:lnTo>
                <a:lnTo>
                  <a:pt x="0" y="0"/>
                </a:lnTo>
                <a:close/>
              </a:path>
            </a:pathLst>
          </a:custGeom>
          <a:blipFill>
            <a:blip r:embed="rId21"/>
            <a:stretch>
              <a:fillRect l="0" t="0" r="0" b="0"/>
            </a:stretch>
          </a:blipFill>
        </p:spPr>
      </p:sp>
      <p:sp>
        <p:nvSpPr>
          <p:cNvPr name="Freeform 28" id="28"/>
          <p:cNvSpPr/>
          <p:nvPr/>
        </p:nvSpPr>
        <p:spPr>
          <a:xfrm flipH="false" flipV="false" rot="0">
            <a:off x="6524625" y="6429375"/>
            <a:ext cx="228600" cy="857250"/>
          </a:xfrm>
          <a:custGeom>
            <a:avLst/>
            <a:gdLst/>
            <a:ahLst/>
            <a:cxnLst/>
            <a:rect r="r" b="b" t="t" l="l"/>
            <a:pathLst>
              <a:path h="857250" w="228600">
                <a:moveTo>
                  <a:pt x="0" y="0"/>
                </a:moveTo>
                <a:lnTo>
                  <a:pt x="228600" y="0"/>
                </a:lnTo>
                <a:lnTo>
                  <a:pt x="228600" y="857250"/>
                </a:lnTo>
                <a:lnTo>
                  <a:pt x="0" y="857250"/>
                </a:lnTo>
                <a:lnTo>
                  <a:pt x="0" y="0"/>
                </a:lnTo>
                <a:close/>
              </a:path>
            </a:pathLst>
          </a:custGeom>
          <a:blipFill>
            <a:blip r:embed="rId22"/>
            <a:stretch>
              <a:fillRect l="0" t="0" r="0" b="0"/>
            </a:stretch>
          </a:blipFill>
        </p:spPr>
      </p:sp>
      <p:sp>
        <p:nvSpPr>
          <p:cNvPr name="TextBox 29" id="29"/>
          <p:cNvSpPr txBox="true"/>
          <p:nvPr/>
        </p:nvSpPr>
        <p:spPr>
          <a:xfrm rot="0">
            <a:off x="6935127" y="6750844"/>
            <a:ext cx="3002925" cy="285700"/>
          </a:xfrm>
          <a:prstGeom prst="rect">
            <a:avLst/>
          </a:prstGeom>
        </p:spPr>
        <p:txBody>
          <a:bodyPr anchor="t" rtlCol="false" tIns="0" lIns="0" bIns="0" rIns="0">
            <a:spAutoFit/>
          </a:bodyPr>
          <a:lstStyle/>
          <a:p>
            <a:pPr algn="l">
              <a:lnSpc>
                <a:spcPts val="2383"/>
              </a:lnSpc>
            </a:pPr>
            <a:r>
              <a:rPr lang="en-US" sz="1986" b="true">
                <a:solidFill>
                  <a:srgbClr val="2B2B2B"/>
                </a:solidFill>
                <a:latin typeface="Open Sauce Medium"/>
                <a:ea typeface="Open Sauce Medium"/>
                <a:cs typeface="Open Sauce Medium"/>
                <a:sym typeface="Open Sauce Medium"/>
              </a:rPr>
              <a:t>Pruebas de integración.</a:t>
            </a:r>
          </a:p>
        </p:txBody>
      </p:sp>
      <p:sp>
        <p:nvSpPr>
          <p:cNvPr name="Freeform 30" id="30"/>
          <p:cNvSpPr/>
          <p:nvPr/>
        </p:nvSpPr>
        <p:spPr>
          <a:xfrm flipH="false" flipV="false" rot="0">
            <a:off x="5438775" y="7496175"/>
            <a:ext cx="8496300" cy="1076325"/>
          </a:xfrm>
          <a:custGeom>
            <a:avLst/>
            <a:gdLst/>
            <a:ahLst/>
            <a:cxnLst/>
            <a:rect r="r" b="b" t="t" l="l"/>
            <a:pathLst>
              <a:path h="1076325" w="8496300">
                <a:moveTo>
                  <a:pt x="0" y="0"/>
                </a:moveTo>
                <a:lnTo>
                  <a:pt x="8496300" y="0"/>
                </a:lnTo>
                <a:lnTo>
                  <a:pt x="8496300" y="1076325"/>
                </a:lnTo>
                <a:lnTo>
                  <a:pt x="0" y="1076325"/>
                </a:lnTo>
                <a:lnTo>
                  <a:pt x="0" y="0"/>
                </a:lnTo>
                <a:close/>
              </a:path>
            </a:pathLst>
          </a:custGeom>
          <a:blipFill>
            <a:blip r:embed="rId23"/>
            <a:stretch>
              <a:fillRect l="0" t="0" r="0" b="0"/>
            </a:stretch>
          </a:blipFill>
        </p:spPr>
      </p:sp>
      <p:sp>
        <p:nvSpPr>
          <p:cNvPr name="Freeform 31" id="31"/>
          <p:cNvSpPr/>
          <p:nvPr/>
        </p:nvSpPr>
        <p:spPr>
          <a:xfrm flipH="false" flipV="false" rot="0">
            <a:off x="5657850" y="7715250"/>
            <a:ext cx="876300" cy="647700"/>
          </a:xfrm>
          <a:custGeom>
            <a:avLst/>
            <a:gdLst/>
            <a:ahLst/>
            <a:cxnLst/>
            <a:rect r="r" b="b" t="t" l="l"/>
            <a:pathLst>
              <a:path h="647700" w="876300">
                <a:moveTo>
                  <a:pt x="0" y="0"/>
                </a:moveTo>
                <a:lnTo>
                  <a:pt x="876300" y="0"/>
                </a:lnTo>
                <a:lnTo>
                  <a:pt x="876300" y="647700"/>
                </a:lnTo>
                <a:lnTo>
                  <a:pt x="0" y="647700"/>
                </a:lnTo>
                <a:lnTo>
                  <a:pt x="0" y="0"/>
                </a:lnTo>
                <a:close/>
              </a:path>
            </a:pathLst>
          </a:custGeom>
          <a:blipFill>
            <a:blip r:embed="rId24"/>
            <a:stretch>
              <a:fillRect l="0" t="0" r="0" b="0"/>
            </a:stretch>
          </a:blipFill>
        </p:spPr>
      </p:sp>
      <p:sp>
        <p:nvSpPr>
          <p:cNvPr name="Freeform 32" id="32"/>
          <p:cNvSpPr/>
          <p:nvPr/>
        </p:nvSpPr>
        <p:spPr>
          <a:xfrm flipH="false" flipV="false" rot="0">
            <a:off x="6524625" y="7715250"/>
            <a:ext cx="228600" cy="857250"/>
          </a:xfrm>
          <a:custGeom>
            <a:avLst/>
            <a:gdLst/>
            <a:ahLst/>
            <a:cxnLst/>
            <a:rect r="r" b="b" t="t" l="l"/>
            <a:pathLst>
              <a:path h="857250" w="228600">
                <a:moveTo>
                  <a:pt x="0" y="0"/>
                </a:moveTo>
                <a:lnTo>
                  <a:pt x="228600" y="0"/>
                </a:lnTo>
                <a:lnTo>
                  <a:pt x="228600" y="857250"/>
                </a:lnTo>
                <a:lnTo>
                  <a:pt x="0" y="857250"/>
                </a:lnTo>
                <a:lnTo>
                  <a:pt x="0" y="0"/>
                </a:lnTo>
                <a:close/>
              </a:path>
            </a:pathLst>
          </a:custGeom>
          <a:blipFill>
            <a:blip r:embed="rId25"/>
            <a:stretch>
              <a:fillRect l="0" t="0" r="0" b="0"/>
            </a:stretch>
          </a:blipFill>
        </p:spPr>
      </p:sp>
      <p:sp>
        <p:nvSpPr>
          <p:cNvPr name="TextBox 33" id="33"/>
          <p:cNvSpPr txBox="true"/>
          <p:nvPr/>
        </p:nvSpPr>
        <p:spPr>
          <a:xfrm rot="0">
            <a:off x="6939142" y="7850870"/>
            <a:ext cx="2601399" cy="285700"/>
          </a:xfrm>
          <a:prstGeom prst="rect">
            <a:avLst/>
          </a:prstGeom>
        </p:spPr>
        <p:txBody>
          <a:bodyPr anchor="t" rtlCol="false" tIns="0" lIns="0" bIns="0" rIns="0">
            <a:spAutoFit/>
          </a:bodyPr>
          <a:lstStyle/>
          <a:p>
            <a:pPr algn="l">
              <a:lnSpc>
                <a:spcPts val="2383"/>
              </a:lnSpc>
            </a:pPr>
            <a:r>
              <a:rPr lang="en-US" sz="1986" b="true">
                <a:solidFill>
                  <a:srgbClr val="2B2B2B"/>
                </a:solidFill>
                <a:latin typeface="Open Sauce Medium"/>
                <a:ea typeface="Open Sauce Medium"/>
                <a:cs typeface="Open Sauce Medium"/>
                <a:sym typeface="Open Sauce Medium"/>
              </a:rPr>
              <a:t>Pruebas End To End.</a:t>
            </a:r>
          </a:p>
        </p:txBody>
      </p:sp>
      <p:sp>
        <p:nvSpPr>
          <p:cNvPr name="Freeform 34" id="34"/>
          <p:cNvSpPr/>
          <p:nvPr/>
        </p:nvSpPr>
        <p:spPr>
          <a:xfrm flipH="false" flipV="false" rot="0">
            <a:off x="5438775" y="8572500"/>
            <a:ext cx="8496300" cy="1076325"/>
          </a:xfrm>
          <a:custGeom>
            <a:avLst/>
            <a:gdLst/>
            <a:ahLst/>
            <a:cxnLst/>
            <a:rect r="r" b="b" t="t" l="l"/>
            <a:pathLst>
              <a:path h="1076325" w="8496300">
                <a:moveTo>
                  <a:pt x="0" y="0"/>
                </a:moveTo>
                <a:lnTo>
                  <a:pt x="8496300" y="0"/>
                </a:lnTo>
                <a:lnTo>
                  <a:pt x="8496300" y="1076325"/>
                </a:lnTo>
                <a:lnTo>
                  <a:pt x="0" y="1076325"/>
                </a:lnTo>
                <a:lnTo>
                  <a:pt x="0" y="0"/>
                </a:lnTo>
                <a:close/>
              </a:path>
            </a:pathLst>
          </a:custGeom>
          <a:blipFill>
            <a:blip r:embed="rId26"/>
            <a:stretch>
              <a:fillRect l="0" t="0" r="0" b="0"/>
            </a:stretch>
          </a:blipFill>
        </p:spPr>
      </p:sp>
      <p:sp>
        <p:nvSpPr>
          <p:cNvPr name="Freeform 35" id="35"/>
          <p:cNvSpPr/>
          <p:nvPr/>
        </p:nvSpPr>
        <p:spPr>
          <a:xfrm flipH="false" flipV="false" rot="0">
            <a:off x="5657850" y="8572500"/>
            <a:ext cx="876300" cy="857250"/>
          </a:xfrm>
          <a:custGeom>
            <a:avLst/>
            <a:gdLst/>
            <a:ahLst/>
            <a:cxnLst/>
            <a:rect r="r" b="b" t="t" l="l"/>
            <a:pathLst>
              <a:path h="857250" w="876300">
                <a:moveTo>
                  <a:pt x="0" y="0"/>
                </a:moveTo>
                <a:lnTo>
                  <a:pt x="876300" y="0"/>
                </a:lnTo>
                <a:lnTo>
                  <a:pt x="876300" y="857250"/>
                </a:lnTo>
                <a:lnTo>
                  <a:pt x="0" y="857250"/>
                </a:lnTo>
                <a:lnTo>
                  <a:pt x="0" y="0"/>
                </a:lnTo>
                <a:close/>
              </a:path>
            </a:pathLst>
          </a:custGeom>
          <a:blipFill>
            <a:blip r:embed="rId27"/>
            <a:stretch>
              <a:fillRect l="0" t="0" r="0" b="0"/>
            </a:stretch>
          </a:blipFill>
        </p:spPr>
      </p:sp>
      <p:sp>
        <p:nvSpPr>
          <p:cNvPr name="Freeform 36" id="36"/>
          <p:cNvSpPr/>
          <p:nvPr/>
        </p:nvSpPr>
        <p:spPr>
          <a:xfrm flipH="false" flipV="false" rot="0">
            <a:off x="6524625" y="8572500"/>
            <a:ext cx="228600" cy="857250"/>
          </a:xfrm>
          <a:custGeom>
            <a:avLst/>
            <a:gdLst/>
            <a:ahLst/>
            <a:cxnLst/>
            <a:rect r="r" b="b" t="t" l="l"/>
            <a:pathLst>
              <a:path h="857250" w="228600">
                <a:moveTo>
                  <a:pt x="0" y="0"/>
                </a:moveTo>
                <a:lnTo>
                  <a:pt x="228600" y="0"/>
                </a:lnTo>
                <a:lnTo>
                  <a:pt x="228600" y="857250"/>
                </a:lnTo>
                <a:lnTo>
                  <a:pt x="0" y="857250"/>
                </a:lnTo>
                <a:lnTo>
                  <a:pt x="0" y="0"/>
                </a:lnTo>
                <a:close/>
              </a:path>
            </a:pathLst>
          </a:custGeom>
          <a:blipFill>
            <a:blip r:embed="rId28"/>
            <a:stretch>
              <a:fillRect l="0" t="0" r="0" b="0"/>
            </a:stretch>
          </a:blipFill>
        </p:spPr>
      </p:sp>
      <p:sp>
        <p:nvSpPr>
          <p:cNvPr name="TextBox 37" id="37"/>
          <p:cNvSpPr txBox="true"/>
          <p:nvPr/>
        </p:nvSpPr>
        <p:spPr>
          <a:xfrm rot="0">
            <a:off x="6918834" y="8935827"/>
            <a:ext cx="4632250" cy="285700"/>
          </a:xfrm>
          <a:prstGeom prst="rect">
            <a:avLst/>
          </a:prstGeom>
        </p:spPr>
        <p:txBody>
          <a:bodyPr anchor="t" rtlCol="false" tIns="0" lIns="0" bIns="0" rIns="0">
            <a:spAutoFit/>
          </a:bodyPr>
          <a:lstStyle/>
          <a:p>
            <a:pPr algn="l">
              <a:lnSpc>
                <a:spcPts val="2383"/>
              </a:lnSpc>
            </a:pPr>
            <a:r>
              <a:rPr lang="en-US" sz="1986" b="true">
                <a:solidFill>
                  <a:srgbClr val="2B2B2B"/>
                </a:solidFill>
                <a:latin typeface="Open Sauce Medium"/>
                <a:ea typeface="Open Sauce Medium"/>
                <a:cs typeface="Open Sauce Medium"/>
                <a:sym typeface="Open Sauce Medium"/>
              </a:rPr>
              <a:t>Pruebas unitarias y de componentes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2759686" y="0"/>
            <a:ext cx="6499679" cy="2485706"/>
          </a:xfrm>
          <a:custGeom>
            <a:avLst/>
            <a:gdLst/>
            <a:ahLst/>
            <a:cxnLst/>
            <a:rect r="r" b="b" t="t" l="l"/>
            <a:pathLst>
              <a:path h="2485706" w="6499679">
                <a:moveTo>
                  <a:pt x="6499678" y="2485706"/>
                </a:moveTo>
                <a:lnTo>
                  <a:pt x="0" y="2485706"/>
                </a:lnTo>
                <a:lnTo>
                  <a:pt x="0" y="0"/>
                </a:lnTo>
                <a:lnTo>
                  <a:pt x="6499678" y="0"/>
                </a:lnTo>
                <a:lnTo>
                  <a:pt x="6499678" y="2485706"/>
                </a:lnTo>
                <a:close/>
              </a:path>
            </a:pathLst>
          </a:custGeom>
          <a:blipFill>
            <a:blip r:embed="rId2">
              <a:alphaModFix amt="41000"/>
              <a:extLst>
                <a:ext uri="{96DAC541-7B7A-43D3-8B79-37D633B846F1}">
                  <asvg:svgBlip xmlns:asvg="http://schemas.microsoft.com/office/drawing/2016/SVG/main" r:embed="rId3"/>
                </a:ext>
              </a:extLst>
            </a:blip>
            <a:stretch>
              <a:fillRect l="0" t="-79322" r="0" b="-82160"/>
            </a:stretch>
          </a:blipFill>
        </p:spPr>
      </p:sp>
      <p:sp>
        <p:nvSpPr>
          <p:cNvPr name="TextBox 3" id="3"/>
          <p:cNvSpPr txBox="true"/>
          <p:nvPr/>
        </p:nvSpPr>
        <p:spPr>
          <a:xfrm rot="0">
            <a:off x="4670208" y="1185703"/>
            <a:ext cx="8947584" cy="901199"/>
          </a:xfrm>
          <a:prstGeom prst="rect">
            <a:avLst/>
          </a:prstGeom>
        </p:spPr>
        <p:txBody>
          <a:bodyPr anchor="t" rtlCol="false" tIns="0" lIns="0" bIns="0" rIns="0">
            <a:spAutoFit/>
          </a:bodyPr>
          <a:lstStyle/>
          <a:p>
            <a:pPr algn="ctr" marL="0" indent="0" lvl="0">
              <a:lnSpc>
                <a:spcPts val="7201"/>
              </a:lnSpc>
            </a:pPr>
            <a:r>
              <a:rPr lang="en-US" b="true" sz="5539">
                <a:solidFill>
                  <a:srgbClr val="0F5995"/>
                </a:solidFill>
                <a:latin typeface="Open Sauce Bold"/>
                <a:ea typeface="Open Sauce Bold"/>
                <a:cs typeface="Open Sauce Bold"/>
                <a:sym typeface="Open Sauce Bold"/>
              </a:rPr>
              <a:t>Conclusión</a:t>
            </a:r>
          </a:p>
        </p:txBody>
      </p:sp>
      <p:sp>
        <p:nvSpPr>
          <p:cNvPr name="Freeform 4" id="4"/>
          <p:cNvSpPr/>
          <p:nvPr/>
        </p:nvSpPr>
        <p:spPr>
          <a:xfrm flipH="false" flipV="false" rot="0">
            <a:off x="16523117" y="8591048"/>
            <a:ext cx="878362" cy="878362"/>
          </a:xfrm>
          <a:custGeom>
            <a:avLst/>
            <a:gdLst/>
            <a:ahLst/>
            <a:cxnLst/>
            <a:rect r="r" b="b" t="t" l="l"/>
            <a:pathLst>
              <a:path h="878362" w="878362">
                <a:moveTo>
                  <a:pt x="0" y="0"/>
                </a:moveTo>
                <a:lnTo>
                  <a:pt x="878362" y="0"/>
                </a:lnTo>
                <a:lnTo>
                  <a:pt x="878362" y="878362"/>
                </a:lnTo>
                <a:lnTo>
                  <a:pt x="0" y="8783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89519" y="2485706"/>
            <a:ext cx="878362" cy="878362"/>
          </a:xfrm>
          <a:custGeom>
            <a:avLst/>
            <a:gdLst/>
            <a:ahLst/>
            <a:cxnLst/>
            <a:rect r="r" b="b" t="t" l="l"/>
            <a:pathLst>
              <a:path h="878362" w="878362">
                <a:moveTo>
                  <a:pt x="0" y="0"/>
                </a:moveTo>
                <a:lnTo>
                  <a:pt x="878362" y="0"/>
                </a:lnTo>
                <a:lnTo>
                  <a:pt x="878362" y="878362"/>
                </a:lnTo>
                <a:lnTo>
                  <a:pt x="0" y="87836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285662" y="150498"/>
            <a:ext cx="3956253" cy="972579"/>
          </a:xfrm>
          <a:custGeom>
            <a:avLst/>
            <a:gdLst/>
            <a:ahLst/>
            <a:cxnLst/>
            <a:rect r="r" b="b" t="t" l="l"/>
            <a:pathLst>
              <a:path h="972579" w="3956253">
                <a:moveTo>
                  <a:pt x="0" y="0"/>
                </a:moveTo>
                <a:lnTo>
                  <a:pt x="3956254" y="0"/>
                </a:lnTo>
                <a:lnTo>
                  <a:pt x="3956254" y="972579"/>
                </a:lnTo>
                <a:lnTo>
                  <a:pt x="0" y="972579"/>
                </a:lnTo>
                <a:lnTo>
                  <a:pt x="0" y="0"/>
                </a:lnTo>
                <a:close/>
              </a:path>
            </a:pathLst>
          </a:custGeom>
          <a:blipFill>
            <a:blip r:embed="rId6"/>
            <a:stretch>
              <a:fillRect l="0" t="0" r="0" b="0"/>
            </a:stretch>
          </a:blipFill>
        </p:spPr>
      </p:sp>
      <p:sp>
        <p:nvSpPr>
          <p:cNvPr name="TextBox 7" id="7"/>
          <p:cNvSpPr txBox="true"/>
          <p:nvPr/>
        </p:nvSpPr>
        <p:spPr>
          <a:xfrm rot="0">
            <a:off x="3280213" y="2782012"/>
            <a:ext cx="10909639" cy="2372787"/>
          </a:xfrm>
          <a:prstGeom prst="rect">
            <a:avLst/>
          </a:prstGeom>
        </p:spPr>
        <p:txBody>
          <a:bodyPr anchor="t" rtlCol="false" tIns="0" lIns="0" bIns="0" rIns="0">
            <a:spAutoFit/>
          </a:bodyPr>
          <a:lstStyle/>
          <a:p>
            <a:pPr algn="just" marL="0" indent="0" lvl="0">
              <a:lnSpc>
                <a:spcPts val="3887"/>
              </a:lnSpc>
            </a:pPr>
            <a:r>
              <a:rPr lang="en-US" sz="1934">
                <a:solidFill>
                  <a:srgbClr val="000000"/>
                </a:solidFill>
                <a:latin typeface="Open Sauce"/>
                <a:ea typeface="Open Sauce"/>
                <a:cs typeface="Open Sauce"/>
                <a:sym typeface="Open Sauce"/>
              </a:rPr>
              <a:t>El desarrollo de QueakeSignal ha sido bastante fluido, debido a una clara definición de tareas y una metodología ágil que permite realizar modificaciones evitando conflictos con otras tareas, cabe destacar que la distribución de trabajo entre los miembos del equipo ha dado frutos con un desarrollo solido y se espera que el proyecto concluya de manera exitosa.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DAHYThZNBh4</dc:identifier>
  <dcterms:modified xsi:type="dcterms:W3CDTF">2011-08-01T06:04:30Z</dcterms:modified>
  <cp:revision>1</cp:revision>
  <dc:title>PresentaciónQuakeSignalFase2Avance</dc:title>
</cp:coreProperties>
</file>