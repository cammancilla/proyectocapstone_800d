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Open Sauce Heavy" charset="1" panose="00000A00000000000000"/>
      <p:regular r:id="rId20"/>
    </p:embeddedFont>
    <p:embeddedFont>
      <p:font typeface="Open Sauce" charset="1" panose="00000500000000000000"/>
      <p:regular r:id="rId21"/>
    </p:embeddedFont>
    <p:embeddedFont>
      <p:font typeface="Open Sauce Bold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5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486411">
            <a:off x="-3736473" y="8044090"/>
            <a:ext cx="15613996" cy="4079156"/>
          </a:xfrm>
          <a:custGeom>
            <a:avLst/>
            <a:gdLst/>
            <a:ahLst/>
            <a:cxnLst/>
            <a:rect r="r" b="b" t="t" l="l"/>
            <a:pathLst>
              <a:path h="4079156" w="15613996">
                <a:moveTo>
                  <a:pt x="0" y="0"/>
                </a:moveTo>
                <a:lnTo>
                  <a:pt x="15613996" y="0"/>
                </a:lnTo>
                <a:lnTo>
                  <a:pt x="15613996" y="4079157"/>
                </a:lnTo>
                <a:lnTo>
                  <a:pt x="0" y="4079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617754" y="8890732"/>
            <a:ext cx="11806576" cy="1396268"/>
            <a:chOff x="0" y="0"/>
            <a:chExt cx="1508702" cy="1784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08702" cy="178422"/>
            </a:xfrm>
            <a:custGeom>
              <a:avLst/>
              <a:gdLst/>
              <a:ahLst/>
              <a:cxnLst/>
              <a:rect r="r" b="b" t="t" l="l"/>
              <a:pathLst>
                <a:path h="178422" w="1508702">
                  <a:moveTo>
                    <a:pt x="203200" y="178422"/>
                  </a:moveTo>
                  <a:lnTo>
                    <a:pt x="1305502" y="178422"/>
                  </a:lnTo>
                  <a:lnTo>
                    <a:pt x="1508702" y="0"/>
                  </a:lnTo>
                  <a:lnTo>
                    <a:pt x="0" y="0"/>
                  </a:lnTo>
                  <a:lnTo>
                    <a:pt x="203200" y="178422"/>
                  </a:lnTo>
                  <a:close/>
                </a:path>
              </a:pathLst>
            </a:custGeom>
            <a:gradFill rotWithShape="true">
              <a:gsLst>
                <a:gs pos="0">
                  <a:srgbClr val="153953">
                    <a:alpha val="49000"/>
                  </a:srgbClr>
                </a:gs>
                <a:gs pos="100000">
                  <a:srgbClr val="065D9B">
                    <a:alpha val="49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27000" y="-38100"/>
              <a:ext cx="1254702" cy="216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8287351">
            <a:off x="5446030" y="8741331"/>
            <a:ext cx="4645285" cy="5898577"/>
            <a:chOff x="0" y="0"/>
            <a:chExt cx="1223450" cy="15535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3450" cy="1553535"/>
            </a:xfrm>
            <a:custGeom>
              <a:avLst/>
              <a:gdLst/>
              <a:ahLst/>
              <a:cxnLst/>
              <a:rect r="r" b="b" t="t" l="l"/>
              <a:pathLst>
                <a:path h="1553535" w="1223450">
                  <a:moveTo>
                    <a:pt x="0" y="0"/>
                  </a:moveTo>
                  <a:lnTo>
                    <a:pt x="1223450" y="0"/>
                  </a:lnTo>
                  <a:lnTo>
                    <a:pt x="1223450" y="1553535"/>
                  </a:lnTo>
                  <a:lnTo>
                    <a:pt x="0" y="1553535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FFFFF">
                    <a:alpha val="71000"/>
                  </a:srgbClr>
                </a:gs>
                <a:gs pos="100000">
                  <a:srgbClr val="0B51A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23450" cy="1591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465775" y="1482096"/>
            <a:ext cx="374773" cy="432638"/>
          </a:xfrm>
          <a:custGeom>
            <a:avLst/>
            <a:gdLst/>
            <a:ahLst/>
            <a:cxnLst/>
            <a:rect r="r" b="b" t="t" l="l"/>
            <a:pathLst>
              <a:path h="432638" w="374773">
                <a:moveTo>
                  <a:pt x="0" y="0"/>
                </a:moveTo>
                <a:lnTo>
                  <a:pt x="374774" y="0"/>
                </a:lnTo>
                <a:lnTo>
                  <a:pt x="374774" y="432638"/>
                </a:lnTo>
                <a:lnTo>
                  <a:pt x="0" y="432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1192810" y="7191336"/>
            <a:ext cx="0" cy="112779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316767" y="-59054"/>
            <a:ext cx="5300439" cy="1303025"/>
          </a:xfrm>
          <a:custGeom>
            <a:avLst/>
            <a:gdLst/>
            <a:ahLst/>
            <a:cxnLst/>
            <a:rect r="r" b="b" t="t" l="l"/>
            <a:pathLst>
              <a:path h="1303025" w="5300439">
                <a:moveTo>
                  <a:pt x="0" y="0"/>
                </a:moveTo>
                <a:lnTo>
                  <a:pt x="5300439" y="0"/>
                </a:lnTo>
                <a:lnTo>
                  <a:pt x="5300439" y="1303025"/>
                </a:lnTo>
                <a:lnTo>
                  <a:pt x="0" y="13030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504602" y="2389263"/>
            <a:ext cx="6306918" cy="2806579"/>
          </a:xfrm>
          <a:custGeom>
            <a:avLst/>
            <a:gdLst/>
            <a:ahLst/>
            <a:cxnLst/>
            <a:rect r="r" b="b" t="t" l="l"/>
            <a:pathLst>
              <a:path h="2806579" w="6306918">
                <a:moveTo>
                  <a:pt x="0" y="0"/>
                </a:moveTo>
                <a:lnTo>
                  <a:pt x="6306918" y="0"/>
                </a:lnTo>
                <a:lnTo>
                  <a:pt x="6306918" y="2806579"/>
                </a:lnTo>
                <a:lnTo>
                  <a:pt x="0" y="28065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02864" y="3273676"/>
            <a:ext cx="10467380" cy="1028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36"/>
              </a:lnSpc>
            </a:pPr>
            <a:r>
              <a:rPr lang="en-US" b="true" sz="6696" spc="-140">
                <a:solidFill>
                  <a:srgbClr val="0F5995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Proyecto </a:t>
            </a:r>
            <a:r>
              <a:rPr lang="en-US" b="true" sz="6696" spc="-140">
                <a:solidFill>
                  <a:srgbClr val="0F5995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QuakeSignal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1299" y="7153236"/>
            <a:ext cx="6257373" cy="64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6"/>
              </a:lnSpc>
              <a:spcBef>
                <a:spcPct val="0"/>
              </a:spcBef>
            </a:pPr>
            <a:r>
              <a:rPr lang="en-US" sz="186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Integrantes: Gladys Espinoza, Vicente Montenegro y Camila Mancilla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4562399"/>
            <a:ext cx="9177013" cy="314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16"/>
              </a:lnSpc>
              <a:spcBef>
                <a:spcPct val="0"/>
              </a:spcBef>
            </a:pPr>
            <a:r>
              <a:rPr lang="en-US" sz="186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Capstone 800D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11299" y="8001085"/>
            <a:ext cx="6257373" cy="318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6"/>
              </a:lnSpc>
              <a:spcBef>
                <a:spcPct val="0"/>
              </a:spcBef>
            </a:pPr>
            <a:r>
              <a:rPr lang="en-US" sz="186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Docente: Aldo Martinez Ordenes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60140" y="958496"/>
            <a:ext cx="5715372" cy="65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90"/>
              </a:lnSpc>
            </a:pPr>
            <a:r>
              <a:rPr lang="en-US" b="true" sz="4069">
                <a:solidFill>
                  <a:srgbClr val="0F599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Índice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587224" y="2112974"/>
            <a:ext cx="5906038" cy="700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0206" indent="-250103" lvl="1">
              <a:lnSpc>
                <a:spcPts val="4332"/>
              </a:lnSpc>
              <a:buFont typeface="Arial"/>
              <a:buChar char="•"/>
            </a:pPr>
            <a:r>
              <a:rPr lang="en-US" sz="231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Introducción</a:t>
            </a:r>
          </a:p>
          <a:p>
            <a:pPr algn="just" marL="500206" indent="-250103" lvl="1">
              <a:lnSpc>
                <a:spcPts val="4332"/>
              </a:lnSpc>
              <a:buFont typeface="Arial"/>
              <a:buChar char="•"/>
            </a:pPr>
            <a:r>
              <a:rPr lang="en-US" sz="231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Contexto</a:t>
            </a:r>
          </a:p>
          <a:p>
            <a:pPr algn="just" marL="500206" indent="-250103" lvl="1">
              <a:lnSpc>
                <a:spcPts val="4332"/>
              </a:lnSpc>
              <a:buFont typeface="Arial"/>
              <a:buChar char="•"/>
            </a:pPr>
            <a:r>
              <a:rPr lang="en-US" sz="231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Problemática</a:t>
            </a:r>
          </a:p>
          <a:p>
            <a:pPr algn="just" marL="500206" indent="-250103" lvl="1">
              <a:lnSpc>
                <a:spcPts val="4332"/>
              </a:lnSpc>
              <a:buFont typeface="Arial"/>
              <a:buChar char="•"/>
            </a:pPr>
            <a:r>
              <a:rPr lang="en-US" sz="231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Solución</a:t>
            </a:r>
          </a:p>
          <a:p>
            <a:pPr algn="just" marL="500206" indent="-250103" lvl="1">
              <a:lnSpc>
                <a:spcPts val="4332"/>
              </a:lnSpc>
              <a:buFont typeface="Arial"/>
              <a:buChar char="•"/>
            </a:pPr>
            <a:r>
              <a:rPr lang="en-US" sz="231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Metodología/Plan/Roles</a:t>
            </a:r>
          </a:p>
          <a:p>
            <a:pPr algn="just" marL="500206" indent="-250103" lvl="1">
              <a:lnSpc>
                <a:spcPts val="4332"/>
              </a:lnSpc>
              <a:buFont typeface="Arial"/>
              <a:buChar char="•"/>
            </a:pPr>
            <a:r>
              <a:rPr lang="en-US" sz="231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Arquitectura</a:t>
            </a:r>
          </a:p>
          <a:p>
            <a:pPr algn="just" marL="500206" indent="-250103" lvl="1">
              <a:lnSpc>
                <a:spcPts val="4332"/>
              </a:lnSpc>
              <a:buFont typeface="Arial"/>
              <a:buChar char="•"/>
            </a:pPr>
            <a:r>
              <a:rPr lang="en-US" sz="231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Competencias</a:t>
            </a:r>
          </a:p>
          <a:p>
            <a:pPr algn="just" marL="500206" indent="-250103" lvl="1">
              <a:lnSpc>
                <a:spcPts val="4332"/>
              </a:lnSpc>
              <a:buFont typeface="Arial"/>
              <a:buChar char="•"/>
            </a:pPr>
            <a:r>
              <a:rPr lang="en-US" sz="231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Riesgos</a:t>
            </a:r>
          </a:p>
          <a:p>
            <a:pPr algn="just" marL="500206" indent="-250103" lvl="1">
              <a:lnSpc>
                <a:spcPts val="4332"/>
              </a:lnSpc>
              <a:buFont typeface="Arial"/>
              <a:buChar char="•"/>
            </a:pPr>
            <a:r>
              <a:rPr lang="en-US" sz="231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Seguridad</a:t>
            </a:r>
          </a:p>
          <a:p>
            <a:pPr algn="just" marL="500206" indent="-250103" lvl="1">
              <a:lnSpc>
                <a:spcPts val="4332"/>
              </a:lnSpc>
              <a:buFont typeface="Arial"/>
              <a:buChar char="•"/>
            </a:pPr>
            <a:r>
              <a:rPr lang="en-US" sz="231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Modelo de Negocio</a:t>
            </a:r>
          </a:p>
          <a:p>
            <a:pPr algn="just" marL="500206" indent="-250103" lvl="1">
              <a:lnSpc>
                <a:spcPts val="4332"/>
              </a:lnSpc>
              <a:buFont typeface="Arial"/>
              <a:buChar char="•"/>
            </a:pPr>
            <a:r>
              <a:rPr lang="en-US" sz="231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Mockup</a:t>
            </a:r>
          </a:p>
          <a:p>
            <a:pPr algn="just" marL="500206" indent="-250103" lvl="1">
              <a:lnSpc>
                <a:spcPts val="4332"/>
              </a:lnSpc>
              <a:buFont typeface="Arial"/>
              <a:buChar char="•"/>
            </a:pPr>
            <a:r>
              <a:rPr lang="en-US" sz="231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Conclusión</a:t>
            </a:r>
          </a:p>
          <a:p>
            <a:pPr algn="just">
              <a:lnSpc>
                <a:spcPts val="4332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9976160" y="4349027"/>
            <a:ext cx="6822600" cy="244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13"/>
              </a:lnSpc>
              <a:spcBef>
                <a:spcPct val="0"/>
              </a:spcBef>
            </a:pPr>
            <a:r>
              <a:rPr lang="en-US" b="true" sz="1438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Contenido de la presentación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9720" y="147618"/>
            <a:ext cx="3956253" cy="972579"/>
          </a:xfrm>
          <a:custGeom>
            <a:avLst/>
            <a:gdLst/>
            <a:ahLst/>
            <a:cxnLst/>
            <a:rect r="r" b="b" t="t" l="l"/>
            <a:pathLst>
              <a:path h="972579" w="3956253">
                <a:moveTo>
                  <a:pt x="0" y="0"/>
                </a:moveTo>
                <a:lnTo>
                  <a:pt x="3956253" y="0"/>
                </a:lnTo>
                <a:lnTo>
                  <a:pt x="3956253" y="972579"/>
                </a:lnTo>
                <a:lnTo>
                  <a:pt x="0" y="972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00000">
            <a:off x="10013500" y="-155682"/>
            <a:ext cx="11198028" cy="5976948"/>
          </a:xfrm>
          <a:custGeom>
            <a:avLst/>
            <a:gdLst/>
            <a:ahLst/>
            <a:cxnLst/>
            <a:rect r="r" b="b" t="t" l="l"/>
            <a:pathLst>
              <a:path h="5976948" w="11198028">
                <a:moveTo>
                  <a:pt x="0" y="0"/>
                </a:moveTo>
                <a:lnTo>
                  <a:pt x="11198028" y="0"/>
                </a:lnTo>
                <a:lnTo>
                  <a:pt x="11198028" y="5976947"/>
                </a:lnTo>
                <a:lnTo>
                  <a:pt x="0" y="59769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26200" y="1340043"/>
            <a:ext cx="9392393" cy="812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40"/>
              </a:lnSpc>
            </a:pPr>
            <a:r>
              <a:rPr lang="en-US" b="true" sz="5031">
                <a:solidFill>
                  <a:srgbClr val="0F599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Introducción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64484" y="2823426"/>
            <a:ext cx="10909639" cy="188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87"/>
              </a:lnSpc>
            </a:pPr>
            <a:r>
              <a:rPr lang="en-US" sz="193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QueakeSignal busca comunicar alertas sísmicas oportunas combinando tecnología, prevención y comunicación efectiva. Su objetivo es apoyar decisiones rápidas ante un terremoto, reduciendo el impacto en vidas y comunidades, el cual busca ser un sistema complementario para el actual sistema de alertas SAE.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203369">
            <a:off x="-4430444" y="7771306"/>
            <a:ext cx="15613996" cy="4079156"/>
          </a:xfrm>
          <a:custGeom>
            <a:avLst/>
            <a:gdLst/>
            <a:ahLst/>
            <a:cxnLst/>
            <a:rect r="r" b="b" t="t" l="l"/>
            <a:pathLst>
              <a:path h="4079156" w="15613996">
                <a:moveTo>
                  <a:pt x="0" y="0"/>
                </a:moveTo>
                <a:lnTo>
                  <a:pt x="15613996" y="0"/>
                </a:lnTo>
                <a:lnTo>
                  <a:pt x="15613996" y="4079157"/>
                </a:lnTo>
                <a:lnTo>
                  <a:pt x="0" y="4079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9720" y="147618"/>
            <a:ext cx="3956253" cy="972579"/>
          </a:xfrm>
          <a:custGeom>
            <a:avLst/>
            <a:gdLst/>
            <a:ahLst/>
            <a:cxnLst/>
            <a:rect r="r" b="b" t="t" l="l"/>
            <a:pathLst>
              <a:path h="972579" w="3956253">
                <a:moveTo>
                  <a:pt x="0" y="0"/>
                </a:moveTo>
                <a:lnTo>
                  <a:pt x="3956253" y="0"/>
                </a:lnTo>
                <a:lnTo>
                  <a:pt x="3956253" y="972579"/>
                </a:lnTo>
                <a:lnTo>
                  <a:pt x="0" y="9725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911603">
            <a:off x="7142788" y="-4696349"/>
            <a:ext cx="20233024" cy="10799376"/>
          </a:xfrm>
          <a:custGeom>
            <a:avLst/>
            <a:gdLst/>
            <a:ahLst/>
            <a:cxnLst/>
            <a:rect r="r" b="b" t="t" l="l"/>
            <a:pathLst>
              <a:path h="10799376" w="20233024">
                <a:moveTo>
                  <a:pt x="0" y="0"/>
                </a:moveTo>
                <a:lnTo>
                  <a:pt x="20233024" y="0"/>
                </a:lnTo>
                <a:lnTo>
                  <a:pt x="20233024" y="10799376"/>
                </a:lnTo>
                <a:lnTo>
                  <a:pt x="0" y="10799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01650" y="1324244"/>
            <a:ext cx="12790893" cy="812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25"/>
              </a:lnSpc>
            </a:pPr>
            <a:r>
              <a:rPr lang="en-US" b="true" sz="5019">
                <a:solidFill>
                  <a:srgbClr val="0F599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Contexto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584647" y="2452510"/>
            <a:ext cx="9118707" cy="2073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31"/>
              </a:lnSpc>
            </a:pPr>
            <a:r>
              <a:rPr lang="en-US" sz="200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Chile es uno de los países más sísmicos del mundo , lo cual significa que contar con alarmas tempranas marca mucho la diferencia para poder salvar vidas, en la actualidad Chile cuenta con SAE (Sistema de Alarma de Emergencia) , sin embargo esta ha sufrido fallos en el ultimo tiempo.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77000" y="5095875"/>
            <a:ext cx="1714500" cy="1714500"/>
          </a:xfrm>
          <a:custGeom>
            <a:avLst/>
            <a:gdLst/>
            <a:ahLst/>
            <a:cxnLst/>
            <a:rect r="r" b="b" t="t" l="l"/>
            <a:pathLst>
              <a:path h="1714500" w="1714500">
                <a:moveTo>
                  <a:pt x="0" y="0"/>
                </a:moveTo>
                <a:lnTo>
                  <a:pt x="1714500" y="0"/>
                </a:lnTo>
                <a:lnTo>
                  <a:pt x="17145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72500" y="5095875"/>
            <a:ext cx="1333500" cy="2667000"/>
          </a:xfrm>
          <a:custGeom>
            <a:avLst/>
            <a:gdLst/>
            <a:ahLst/>
            <a:cxnLst/>
            <a:rect r="r" b="b" t="t" l="l"/>
            <a:pathLst>
              <a:path h="2667000" w="1333500">
                <a:moveTo>
                  <a:pt x="0" y="0"/>
                </a:moveTo>
                <a:lnTo>
                  <a:pt x="1333500" y="0"/>
                </a:lnTo>
                <a:lnTo>
                  <a:pt x="1333500" y="2667000"/>
                </a:lnTo>
                <a:lnTo>
                  <a:pt x="0" y="266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0" y="5095875"/>
            <a:ext cx="1524000" cy="1524000"/>
          </a:xfrm>
          <a:custGeom>
            <a:avLst/>
            <a:gdLst/>
            <a:ahLst/>
            <a:cxnLst/>
            <a:rect r="r" b="b" t="t" l="l"/>
            <a:pathLst>
              <a:path h="1524000" w="1524000">
                <a:moveTo>
                  <a:pt x="0" y="0"/>
                </a:moveTo>
                <a:lnTo>
                  <a:pt x="1524000" y="0"/>
                </a:lnTo>
                <a:lnTo>
                  <a:pt x="15240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698267" y="1028700"/>
            <a:ext cx="742704" cy="742704"/>
          </a:xfrm>
          <a:custGeom>
            <a:avLst/>
            <a:gdLst/>
            <a:ahLst/>
            <a:cxnLst/>
            <a:rect r="r" b="b" t="t" l="l"/>
            <a:pathLst>
              <a:path h="742704" w="742704">
                <a:moveTo>
                  <a:pt x="0" y="0"/>
                </a:moveTo>
                <a:lnTo>
                  <a:pt x="742704" y="0"/>
                </a:lnTo>
                <a:lnTo>
                  <a:pt x="742704" y="742704"/>
                </a:lnTo>
                <a:lnTo>
                  <a:pt x="0" y="7427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9720" y="147618"/>
            <a:ext cx="3956253" cy="972579"/>
          </a:xfrm>
          <a:custGeom>
            <a:avLst/>
            <a:gdLst/>
            <a:ahLst/>
            <a:cxnLst/>
            <a:rect r="r" b="b" t="t" l="l"/>
            <a:pathLst>
              <a:path h="972579" w="3956253">
                <a:moveTo>
                  <a:pt x="0" y="0"/>
                </a:moveTo>
                <a:lnTo>
                  <a:pt x="3956253" y="0"/>
                </a:lnTo>
                <a:lnTo>
                  <a:pt x="3956253" y="972579"/>
                </a:lnTo>
                <a:lnTo>
                  <a:pt x="0" y="9725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45990" y="902006"/>
            <a:ext cx="11197736" cy="812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25"/>
              </a:lnSpc>
            </a:pPr>
            <a:r>
              <a:rPr lang="en-US" b="true" sz="5019">
                <a:solidFill>
                  <a:srgbClr val="0F599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Problemática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9720" y="147618"/>
            <a:ext cx="3956253" cy="972579"/>
          </a:xfrm>
          <a:custGeom>
            <a:avLst/>
            <a:gdLst/>
            <a:ahLst/>
            <a:cxnLst/>
            <a:rect r="r" b="b" t="t" l="l"/>
            <a:pathLst>
              <a:path h="972579" w="3956253">
                <a:moveTo>
                  <a:pt x="0" y="0"/>
                </a:moveTo>
                <a:lnTo>
                  <a:pt x="3956253" y="0"/>
                </a:lnTo>
                <a:lnTo>
                  <a:pt x="3956253" y="972579"/>
                </a:lnTo>
                <a:lnTo>
                  <a:pt x="0" y="972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31271" y="3302150"/>
            <a:ext cx="14140049" cy="790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73"/>
              </a:lnSpc>
              <a:spcBef>
                <a:spcPct val="0"/>
              </a:spcBef>
            </a:pPr>
            <a:r>
              <a:rPr lang="en-US" sz="233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 el ultimo tiempo se han reportado fallos en la alarma SAE, siendo Chile un país muy sísmico se ve la necesidad de servicios complementarios.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720" y="147618"/>
            <a:ext cx="3956253" cy="972579"/>
          </a:xfrm>
          <a:custGeom>
            <a:avLst/>
            <a:gdLst/>
            <a:ahLst/>
            <a:cxnLst/>
            <a:rect r="r" b="b" t="t" l="l"/>
            <a:pathLst>
              <a:path h="972579" w="3956253">
                <a:moveTo>
                  <a:pt x="0" y="0"/>
                </a:moveTo>
                <a:lnTo>
                  <a:pt x="3956253" y="0"/>
                </a:lnTo>
                <a:lnTo>
                  <a:pt x="3956253" y="972579"/>
                </a:lnTo>
                <a:lnTo>
                  <a:pt x="0" y="972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53759" y="6615565"/>
            <a:ext cx="5438620" cy="2877030"/>
          </a:xfrm>
          <a:custGeom>
            <a:avLst/>
            <a:gdLst/>
            <a:ahLst/>
            <a:cxnLst/>
            <a:rect r="r" b="b" t="t" l="l"/>
            <a:pathLst>
              <a:path h="2877030" w="5438620">
                <a:moveTo>
                  <a:pt x="0" y="0"/>
                </a:moveTo>
                <a:lnTo>
                  <a:pt x="5438620" y="0"/>
                </a:lnTo>
                <a:lnTo>
                  <a:pt x="5438620" y="2877030"/>
                </a:lnTo>
                <a:lnTo>
                  <a:pt x="0" y="28770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09363" y="1657443"/>
            <a:ext cx="13746011" cy="82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13"/>
              </a:lnSpc>
            </a:pPr>
            <a:r>
              <a:rPr lang="en-US" b="true" sz="5087">
                <a:solidFill>
                  <a:srgbClr val="0F599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Solución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04879" y="2916438"/>
            <a:ext cx="14287500" cy="2520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79"/>
              </a:lnSpc>
            </a:pPr>
            <a:r>
              <a:rPr lang="en-US" sz="1999">
                <a:solidFill>
                  <a:srgbClr val="4A4A4A"/>
                </a:solidFill>
                <a:latin typeface="Open Sauce"/>
                <a:ea typeface="Open Sauce"/>
                <a:cs typeface="Open Sauce"/>
                <a:sym typeface="Open Sauce"/>
              </a:rPr>
              <a:t>Nuestra solución consiste en un sistema de alertas hibrido , en el cual por medio de un dashboard se reciven alertas mediante una API o se presiona un botón de pánico manual, de esta forma se da aviso de la emergencia donde un programa se encargara de revisar cada tanto tiempo si hay una nueva emergencia , una vez que detecte una nueva emergencia se notificara de esta por dos vías; un bot de telegram que mostrara una notificación push y una alerta fisica por medio de un dispositivo ESP32.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2061" y="2817042"/>
            <a:ext cx="10238495" cy="6257325"/>
          </a:xfrm>
          <a:custGeom>
            <a:avLst/>
            <a:gdLst/>
            <a:ahLst/>
            <a:cxnLst/>
            <a:rect r="r" b="b" t="t" l="l"/>
            <a:pathLst>
              <a:path h="6257325" w="10238495">
                <a:moveTo>
                  <a:pt x="0" y="0"/>
                </a:moveTo>
                <a:lnTo>
                  <a:pt x="10238495" y="0"/>
                </a:lnTo>
                <a:lnTo>
                  <a:pt x="10238495" y="6257325"/>
                </a:lnTo>
                <a:lnTo>
                  <a:pt x="0" y="62573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62216" y="1951045"/>
            <a:ext cx="12603035" cy="414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03"/>
              </a:lnSpc>
              <a:spcBef>
                <a:spcPct val="0"/>
              </a:spcBef>
            </a:pPr>
            <a:r>
              <a:rPr lang="en-US" sz="243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 utilizara la metodología ágil Kanban , la cual es bastante flexible ante cambios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15161" y="617029"/>
            <a:ext cx="9328326" cy="785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95"/>
              </a:lnSpc>
            </a:pPr>
            <a:r>
              <a:rPr lang="en-US" b="true" sz="4919">
                <a:solidFill>
                  <a:srgbClr val="0F599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Metodología, Plan y Roles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837958" y="3177448"/>
            <a:ext cx="6751662" cy="4647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4860" indent="-262430" lvl="1">
              <a:lnSpc>
                <a:spcPts val="5396"/>
              </a:lnSpc>
              <a:buFont typeface="Arial"/>
              <a:buChar char="•"/>
            </a:pPr>
            <a:r>
              <a:rPr lang="en-US" b="true" sz="243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Lider de proyecto:</a:t>
            </a:r>
            <a:r>
              <a:rPr lang="en-US" sz="243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Camila Mancilla </a:t>
            </a:r>
          </a:p>
          <a:p>
            <a:pPr algn="just" marL="524860" indent="-262430" lvl="1">
              <a:lnSpc>
                <a:spcPts val="5396"/>
              </a:lnSpc>
              <a:buFont typeface="Arial"/>
              <a:buChar char="•"/>
            </a:pPr>
            <a:r>
              <a:rPr lang="en-US" b="true" sz="243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Arquitecto de software:</a:t>
            </a:r>
            <a:r>
              <a:rPr lang="en-US" sz="243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Gladys Espinoza </a:t>
            </a:r>
          </a:p>
          <a:p>
            <a:pPr algn="just" marL="524860" indent="-262430" lvl="1">
              <a:lnSpc>
                <a:spcPts val="5396"/>
              </a:lnSpc>
              <a:buFont typeface="Arial"/>
              <a:buChar char="•"/>
            </a:pPr>
            <a:r>
              <a:rPr lang="en-US" b="true" sz="243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Especialista de hardware y electrónica:</a:t>
            </a:r>
            <a:r>
              <a:rPr lang="en-US" sz="243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Vicente Montenegro</a:t>
            </a:r>
          </a:p>
          <a:p>
            <a:pPr algn="just" marL="524860" indent="-262430" lvl="1">
              <a:lnSpc>
                <a:spcPts val="5396"/>
              </a:lnSpc>
              <a:buFont typeface="Arial"/>
              <a:buChar char="•"/>
            </a:pPr>
            <a:r>
              <a:rPr lang="en-US" b="true" sz="243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Desarrollador full stack:</a:t>
            </a:r>
            <a:r>
              <a:rPr lang="en-US" sz="243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Rol compartido </a:t>
            </a:r>
          </a:p>
          <a:p>
            <a:pPr algn="just" marL="524860" indent="-262430" lvl="1">
              <a:lnSpc>
                <a:spcPts val="5396"/>
              </a:lnSpc>
              <a:buFont typeface="Arial"/>
              <a:buChar char="•"/>
            </a:pPr>
            <a:r>
              <a:rPr lang="en-US" b="true" sz="243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Analista de calidad:</a:t>
            </a:r>
            <a:r>
              <a:rPr lang="en-US" sz="243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Rol compartido </a:t>
            </a:r>
          </a:p>
          <a:p>
            <a:pPr algn="just" marL="0" indent="0" lvl="0">
              <a:lnSpc>
                <a:spcPts val="5396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9720" y="147618"/>
            <a:ext cx="3811322" cy="936950"/>
          </a:xfrm>
          <a:custGeom>
            <a:avLst/>
            <a:gdLst/>
            <a:ahLst/>
            <a:cxnLst/>
            <a:rect r="r" b="b" t="t" l="l"/>
            <a:pathLst>
              <a:path h="936950" w="3811322">
                <a:moveTo>
                  <a:pt x="0" y="0"/>
                </a:moveTo>
                <a:lnTo>
                  <a:pt x="3811322" y="0"/>
                </a:lnTo>
                <a:lnTo>
                  <a:pt x="3811322" y="936950"/>
                </a:lnTo>
                <a:lnTo>
                  <a:pt x="0" y="936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20417" y="2909817"/>
            <a:ext cx="9047167" cy="1006828"/>
            <a:chOff x="0" y="0"/>
            <a:chExt cx="2149952" cy="2392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9952" cy="239261"/>
            </a:xfrm>
            <a:custGeom>
              <a:avLst/>
              <a:gdLst/>
              <a:ahLst/>
              <a:cxnLst/>
              <a:rect r="r" b="b" t="t" l="l"/>
              <a:pathLst>
                <a:path h="239261" w="2149952">
                  <a:moveTo>
                    <a:pt x="35941" y="0"/>
                  </a:moveTo>
                  <a:lnTo>
                    <a:pt x="2114011" y="0"/>
                  </a:lnTo>
                  <a:cubicBezTo>
                    <a:pt x="2123544" y="0"/>
                    <a:pt x="2132685" y="3787"/>
                    <a:pt x="2139425" y="10527"/>
                  </a:cubicBezTo>
                  <a:cubicBezTo>
                    <a:pt x="2146166" y="17267"/>
                    <a:pt x="2149952" y="26409"/>
                    <a:pt x="2149952" y="35941"/>
                  </a:cubicBezTo>
                  <a:lnTo>
                    <a:pt x="2149952" y="203320"/>
                  </a:lnTo>
                  <a:cubicBezTo>
                    <a:pt x="2149952" y="223170"/>
                    <a:pt x="2133861" y="239261"/>
                    <a:pt x="2114011" y="239261"/>
                  </a:cubicBezTo>
                  <a:lnTo>
                    <a:pt x="35941" y="239261"/>
                  </a:lnTo>
                  <a:cubicBezTo>
                    <a:pt x="16091" y="239261"/>
                    <a:pt x="0" y="223170"/>
                    <a:pt x="0" y="203320"/>
                  </a:cubicBezTo>
                  <a:lnTo>
                    <a:pt x="0" y="35941"/>
                  </a:lnTo>
                  <a:cubicBezTo>
                    <a:pt x="0" y="16091"/>
                    <a:pt x="16091" y="0"/>
                    <a:pt x="35941" y="0"/>
                  </a:cubicBezTo>
                  <a:close/>
                </a:path>
              </a:pathLst>
            </a:custGeom>
            <a:solidFill>
              <a:srgbClr val="0071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49952" cy="277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614131" y="4364321"/>
            <a:ext cx="9107665" cy="1006828"/>
            <a:chOff x="0" y="0"/>
            <a:chExt cx="2164329" cy="2392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64329" cy="239261"/>
            </a:xfrm>
            <a:custGeom>
              <a:avLst/>
              <a:gdLst/>
              <a:ahLst/>
              <a:cxnLst/>
              <a:rect r="r" b="b" t="t" l="l"/>
              <a:pathLst>
                <a:path h="239261" w="2164329">
                  <a:moveTo>
                    <a:pt x="35702" y="0"/>
                  </a:moveTo>
                  <a:lnTo>
                    <a:pt x="2128627" y="0"/>
                  </a:lnTo>
                  <a:cubicBezTo>
                    <a:pt x="2138096" y="0"/>
                    <a:pt x="2147177" y="3761"/>
                    <a:pt x="2153872" y="10457"/>
                  </a:cubicBezTo>
                  <a:cubicBezTo>
                    <a:pt x="2160568" y="17152"/>
                    <a:pt x="2164329" y="26233"/>
                    <a:pt x="2164329" y="35702"/>
                  </a:cubicBezTo>
                  <a:lnTo>
                    <a:pt x="2164329" y="203559"/>
                  </a:lnTo>
                  <a:cubicBezTo>
                    <a:pt x="2164329" y="223277"/>
                    <a:pt x="2148345" y="239261"/>
                    <a:pt x="2128627" y="239261"/>
                  </a:cubicBezTo>
                  <a:lnTo>
                    <a:pt x="35702" y="239261"/>
                  </a:lnTo>
                  <a:cubicBezTo>
                    <a:pt x="26233" y="239261"/>
                    <a:pt x="17152" y="235499"/>
                    <a:pt x="10457" y="228804"/>
                  </a:cubicBezTo>
                  <a:cubicBezTo>
                    <a:pt x="3761" y="222109"/>
                    <a:pt x="0" y="213028"/>
                    <a:pt x="0" y="203559"/>
                  </a:cubicBezTo>
                  <a:lnTo>
                    <a:pt x="0" y="35702"/>
                  </a:lnTo>
                  <a:cubicBezTo>
                    <a:pt x="0" y="26233"/>
                    <a:pt x="3761" y="17152"/>
                    <a:pt x="10457" y="10457"/>
                  </a:cubicBezTo>
                  <a:cubicBezTo>
                    <a:pt x="17152" y="3761"/>
                    <a:pt x="26233" y="0"/>
                    <a:pt x="35702" y="0"/>
                  </a:cubicBezTo>
                  <a:close/>
                </a:path>
              </a:pathLst>
            </a:custGeom>
            <a:solidFill>
              <a:srgbClr val="0071B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64329" cy="277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614131" y="5818824"/>
            <a:ext cx="9107665" cy="1006828"/>
            <a:chOff x="0" y="0"/>
            <a:chExt cx="2164329" cy="2392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64329" cy="239261"/>
            </a:xfrm>
            <a:custGeom>
              <a:avLst/>
              <a:gdLst/>
              <a:ahLst/>
              <a:cxnLst/>
              <a:rect r="r" b="b" t="t" l="l"/>
              <a:pathLst>
                <a:path h="239261" w="2164329">
                  <a:moveTo>
                    <a:pt x="35702" y="0"/>
                  </a:moveTo>
                  <a:lnTo>
                    <a:pt x="2128627" y="0"/>
                  </a:lnTo>
                  <a:cubicBezTo>
                    <a:pt x="2138096" y="0"/>
                    <a:pt x="2147177" y="3761"/>
                    <a:pt x="2153872" y="10457"/>
                  </a:cubicBezTo>
                  <a:cubicBezTo>
                    <a:pt x="2160568" y="17152"/>
                    <a:pt x="2164329" y="26233"/>
                    <a:pt x="2164329" y="35702"/>
                  </a:cubicBezTo>
                  <a:lnTo>
                    <a:pt x="2164329" y="203559"/>
                  </a:lnTo>
                  <a:cubicBezTo>
                    <a:pt x="2164329" y="223277"/>
                    <a:pt x="2148345" y="239261"/>
                    <a:pt x="2128627" y="239261"/>
                  </a:cubicBezTo>
                  <a:lnTo>
                    <a:pt x="35702" y="239261"/>
                  </a:lnTo>
                  <a:cubicBezTo>
                    <a:pt x="26233" y="239261"/>
                    <a:pt x="17152" y="235499"/>
                    <a:pt x="10457" y="228804"/>
                  </a:cubicBezTo>
                  <a:cubicBezTo>
                    <a:pt x="3761" y="222109"/>
                    <a:pt x="0" y="213028"/>
                    <a:pt x="0" y="203559"/>
                  </a:cubicBezTo>
                  <a:lnTo>
                    <a:pt x="0" y="35702"/>
                  </a:lnTo>
                  <a:cubicBezTo>
                    <a:pt x="0" y="26233"/>
                    <a:pt x="3761" y="17152"/>
                    <a:pt x="10457" y="10457"/>
                  </a:cubicBezTo>
                  <a:cubicBezTo>
                    <a:pt x="17152" y="3761"/>
                    <a:pt x="26233" y="0"/>
                    <a:pt x="35702" y="0"/>
                  </a:cubicBezTo>
                  <a:close/>
                </a:path>
              </a:pathLst>
            </a:custGeom>
            <a:solidFill>
              <a:srgbClr val="0071B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64329" cy="277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620417" y="7273327"/>
            <a:ext cx="9144609" cy="1006828"/>
            <a:chOff x="0" y="0"/>
            <a:chExt cx="2173108" cy="2392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3108" cy="239261"/>
            </a:xfrm>
            <a:custGeom>
              <a:avLst/>
              <a:gdLst/>
              <a:ahLst/>
              <a:cxnLst/>
              <a:rect r="r" b="b" t="t" l="l"/>
              <a:pathLst>
                <a:path h="239261" w="2173108">
                  <a:moveTo>
                    <a:pt x="35558" y="0"/>
                  </a:moveTo>
                  <a:lnTo>
                    <a:pt x="2137550" y="0"/>
                  </a:lnTo>
                  <a:cubicBezTo>
                    <a:pt x="2157188" y="0"/>
                    <a:pt x="2173108" y="15920"/>
                    <a:pt x="2173108" y="35558"/>
                  </a:cubicBezTo>
                  <a:lnTo>
                    <a:pt x="2173108" y="203703"/>
                  </a:lnTo>
                  <a:cubicBezTo>
                    <a:pt x="2173108" y="223341"/>
                    <a:pt x="2157188" y="239261"/>
                    <a:pt x="2137550" y="239261"/>
                  </a:cubicBezTo>
                  <a:lnTo>
                    <a:pt x="35558" y="239261"/>
                  </a:lnTo>
                  <a:cubicBezTo>
                    <a:pt x="15920" y="239261"/>
                    <a:pt x="0" y="223341"/>
                    <a:pt x="0" y="203703"/>
                  </a:cubicBezTo>
                  <a:lnTo>
                    <a:pt x="0" y="35558"/>
                  </a:lnTo>
                  <a:cubicBezTo>
                    <a:pt x="0" y="15920"/>
                    <a:pt x="15920" y="0"/>
                    <a:pt x="35558" y="0"/>
                  </a:cubicBezTo>
                  <a:close/>
                </a:path>
              </a:pathLst>
            </a:custGeom>
            <a:solidFill>
              <a:srgbClr val="0071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73108" cy="277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620417" y="944613"/>
            <a:ext cx="9254622" cy="653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77"/>
              </a:lnSpc>
            </a:pPr>
            <a:r>
              <a:rPr lang="en-US" b="true" sz="4059">
                <a:solidFill>
                  <a:srgbClr val="0F599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Competencias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3667125" y="3028950"/>
            <a:ext cx="762000" cy="762000"/>
          </a:xfrm>
          <a:custGeom>
            <a:avLst/>
            <a:gdLst/>
            <a:ahLst/>
            <a:cxnLst/>
            <a:rect r="r" b="b" t="t" l="l"/>
            <a:pathLst>
              <a:path h="762000" w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657600" y="4486275"/>
            <a:ext cx="762000" cy="762000"/>
          </a:xfrm>
          <a:custGeom>
            <a:avLst/>
            <a:gdLst/>
            <a:ahLst/>
            <a:cxnLst/>
            <a:rect r="r" b="b" t="t" l="l"/>
            <a:pathLst>
              <a:path h="762000" w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657600" y="5943600"/>
            <a:ext cx="762000" cy="762000"/>
          </a:xfrm>
          <a:custGeom>
            <a:avLst/>
            <a:gdLst/>
            <a:ahLst/>
            <a:cxnLst/>
            <a:rect r="r" b="b" t="t" l="l"/>
            <a:pathLst>
              <a:path h="762000" w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667125" y="7400925"/>
            <a:ext cx="762000" cy="762000"/>
          </a:xfrm>
          <a:custGeom>
            <a:avLst/>
            <a:gdLst/>
            <a:ahLst/>
            <a:cxnLst/>
            <a:rect r="r" b="b" t="t" l="l"/>
            <a:pathLst>
              <a:path h="762000" w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782550" y="3123531"/>
            <a:ext cx="8683071" cy="52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89"/>
              </a:lnSpc>
              <a:spcBef>
                <a:spcPct val="0"/>
              </a:spcBef>
            </a:pPr>
            <a:r>
              <a:rPr lang="en-US" b="true" sz="306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Desarrollo de soluciones de software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093730" y="4573871"/>
            <a:ext cx="8557885" cy="52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89"/>
              </a:lnSpc>
              <a:spcBef>
                <a:spcPct val="0"/>
              </a:spcBef>
            </a:pPr>
            <a:r>
              <a:rPr lang="en-US" b="true" sz="306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Modelamiento y Gestión de datos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093730" y="6028374"/>
            <a:ext cx="8557885" cy="52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89"/>
              </a:lnSpc>
              <a:spcBef>
                <a:spcPct val="0"/>
              </a:spcBef>
            </a:pPr>
            <a:r>
              <a:rPr lang="en-US" b="true" sz="306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Pruebas de certificación y calidad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849971" y="7471482"/>
            <a:ext cx="9665016" cy="498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09"/>
              </a:lnSpc>
              <a:spcBef>
                <a:spcPct val="0"/>
              </a:spcBef>
            </a:pPr>
            <a:r>
              <a:rPr lang="en-US" b="true" sz="286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Gestión de Proyectos e Innovación Tecnológica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28367" y="148838"/>
            <a:ext cx="3392033" cy="833875"/>
          </a:xfrm>
          <a:custGeom>
            <a:avLst/>
            <a:gdLst/>
            <a:ahLst/>
            <a:cxnLst/>
            <a:rect r="r" b="b" t="t" l="l"/>
            <a:pathLst>
              <a:path h="833875" w="3392033">
                <a:moveTo>
                  <a:pt x="0" y="0"/>
                </a:moveTo>
                <a:lnTo>
                  <a:pt x="3392034" y="0"/>
                </a:lnTo>
                <a:lnTo>
                  <a:pt x="3392034" y="833875"/>
                </a:lnTo>
                <a:lnTo>
                  <a:pt x="0" y="833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2759686" y="0"/>
            <a:ext cx="6499679" cy="2485706"/>
          </a:xfrm>
          <a:custGeom>
            <a:avLst/>
            <a:gdLst/>
            <a:ahLst/>
            <a:cxnLst/>
            <a:rect r="r" b="b" t="t" l="l"/>
            <a:pathLst>
              <a:path h="2485706" w="6499679">
                <a:moveTo>
                  <a:pt x="6499678" y="2485706"/>
                </a:moveTo>
                <a:lnTo>
                  <a:pt x="0" y="2485706"/>
                </a:lnTo>
                <a:lnTo>
                  <a:pt x="0" y="0"/>
                </a:lnTo>
                <a:lnTo>
                  <a:pt x="6499678" y="0"/>
                </a:lnTo>
                <a:lnTo>
                  <a:pt x="6499678" y="2485706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9322" r="0" b="-8216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84000">
            <a:off x="9072750" y="8816407"/>
            <a:ext cx="15613996" cy="4079156"/>
          </a:xfrm>
          <a:custGeom>
            <a:avLst/>
            <a:gdLst/>
            <a:ahLst/>
            <a:cxnLst/>
            <a:rect r="r" b="b" t="t" l="l"/>
            <a:pathLst>
              <a:path h="4079156" w="15613996">
                <a:moveTo>
                  <a:pt x="0" y="0"/>
                </a:moveTo>
                <a:lnTo>
                  <a:pt x="15613996" y="0"/>
                </a:lnTo>
                <a:lnTo>
                  <a:pt x="15613996" y="4079157"/>
                </a:lnTo>
                <a:lnTo>
                  <a:pt x="0" y="40791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720" y="147618"/>
            <a:ext cx="3811322" cy="936950"/>
          </a:xfrm>
          <a:custGeom>
            <a:avLst/>
            <a:gdLst/>
            <a:ahLst/>
            <a:cxnLst/>
            <a:rect r="r" b="b" t="t" l="l"/>
            <a:pathLst>
              <a:path h="936950" w="3811322">
                <a:moveTo>
                  <a:pt x="0" y="0"/>
                </a:moveTo>
                <a:lnTo>
                  <a:pt x="3811322" y="0"/>
                </a:lnTo>
                <a:lnTo>
                  <a:pt x="3811322" y="936950"/>
                </a:lnTo>
                <a:lnTo>
                  <a:pt x="0" y="936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1375767"/>
            <a:ext cx="18238280" cy="7882533"/>
          </a:xfrm>
          <a:custGeom>
            <a:avLst/>
            <a:gdLst/>
            <a:ahLst/>
            <a:cxnLst/>
            <a:rect r="r" b="b" t="t" l="l"/>
            <a:pathLst>
              <a:path h="7882533" w="18238280">
                <a:moveTo>
                  <a:pt x="0" y="0"/>
                </a:moveTo>
                <a:lnTo>
                  <a:pt x="18238280" y="0"/>
                </a:lnTo>
                <a:lnTo>
                  <a:pt x="18238280" y="7882533"/>
                </a:lnTo>
                <a:lnTo>
                  <a:pt x="0" y="78825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04" t="0" r="-304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528314" y="247950"/>
            <a:ext cx="7231372" cy="697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38"/>
              </a:lnSpc>
            </a:pPr>
            <a:r>
              <a:rPr lang="en-US" b="true" sz="4337">
                <a:solidFill>
                  <a:srgbClr val="0F599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Arquitectura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5662" y="150498"/>
            <a:ext cx="3956253" cy="972579"/>
          </a:xfrm>
          <a:custGeom>
            <a:avLst/>
            <a:gdLst/>
            <a:ahLst/>
            <a:cxnLst/>
            <a:rect r="r" b="b" t="t" l="l"/>
            <a:pathLst>
              <a:path h="972579" w="3956253">
                <a:moveTo>
                  <a:pt x="0" y="0"/>
                </a:moveTo>
                <a:lnTo>
                  <a:pt x="3956254" y="0"/>
                </a:lnTo>
                <a:lnTo>
                  <a:pt x="3956254" y="972579"/>
                </a:lnTo>
                <a:lnTo>
                  <a:pt x="0" y="972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20335" y="1123077"/>
            <a:ext cx="12043634" cy="9032725"/>
          </a:xfrm>
          <a:custGeom>
            <a:avLst/>
            <a:gdLst/>
            <a:ahLst/>
            <a:cxnLst/>
            <a:rect r="r" b="b" t="t" l="l"/>
            <a:pathLst>
              <a:path h="9032725" w="12043634">
                <a:moveTo>
                  <a:pt x="0" y="0"/>
                </a:moveTo>
                <a:lnTo>
                  <a:pt x="12043634" y="0"/>
                </a:lnTo>
                <a:lnTo>
                  <a:pt x="12043634" y="9032725"/>
                </a:lnTo>
                <a:lnTo>
                  <a:pt x="0" y="90327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6245" y="102873"/>
            <a:ext cx="17575509" cy="882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63"/>
              </a:lnSpc>
            </a:pPr>
            <a:r>
              <a:rPr lang="en-US" b="true" sz="5510">
                <a:solidFill>
                  <a:srgbClr val="0F599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Modelo de Negocio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826" y="0"/>
            <a:ext cx="3392033" cy="833875"/>
          </a:xfrm>
          <a:custGeom>
            <a:avLst/>
            <a:gdLst/>
            <a:ahLst/>
            <a:cxnLst/>
            <a:rect r="r" b="b" t="t" l="l"/>
            <a:pathLst>
              <a:path h="833875" w="3392033">
                <a:moveTo>
                  <a:pt x="0" y="0"/>
                </a:moveTo>
                <a:lnTo>
                  <a:pt x="3392034" y="0"/>
                </a:lnTo>
                <a:lnTo>
                  <a:pt x="3392034" y="833875"/>
                </a:lnTo>
                <a:lnTo>
                  <a:pt x="0" y="8338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028700" y="981493"/>
          <a:ext cx="10165976" cy="8229600"/>
        </p:xfrm>
        <a:graphic>
          <a:graphicData uri="http://schemas.openxmlformats.org/presentationml/2006/ole">
            <p:oleObj imgW="12192000" imgH="102489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3859625" y="134540"/>
            <a:ext cx="10130649" cy="812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40"/>
              </a:lnSpc>
            </a:pPr>
            <a:r>
              <a:rPr lang="en-US" b="true" sz="5031">
                <a:solidFill>
                  <a:srgbClr val="0F599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Riesgos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5662" y="150498"/>
            <a:ext cx="3956253" cy="972579"/>
          </a:xfrm>
          <a:custGeom>
            <a:avLst/>
            <a:gdLst/>
            <a:ahLst/>
            <a:cxnLst/>
            <a:rect r="r" b="b" t="t" l="l"/>
            <a:pathLst>
              <a:path h="972579" w="3956253">
                <a:moveTo>
                  <a:pt x="0" y="0"/>
                </a:moveTo>
                <a:lnTo>
                  <a:pt x="3956254" y="0"/>
                </a:lnTo>
                <a:lnTo>
                  <a:pt x="3956254" y="972579"/>
                </a:lnTo>
                <a:lnTo>
                  <a:pt x="0" y="972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29000" y="552450"/>
            <a:ext cx="11430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b="true" sz="4200">
                <a:solidFill>
                  <a:srgbClr val="0F599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Seguridad del sistema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429000" y="1247775"/>
            <a:ext cx="11430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A6A7A"/>
                </a:solidFill>
                <a:latin typeface="Open Sauce"/>
                <a:ea typeface="Open Sauce"/>
                <a:cs typeface="Open Sauce"/>
                <a:sym typeface="Open Sauce"/>
              </a:rPr>
              <a:t>Proteccion basada en Confidencialidad, Integridad y Disponibilidad (CID)</a:t>
            </a:r>
          </a:p>
        </p:txBody>
      </p:sp>
      <p:sp>
        <p:nvSpPr>
          <p:cNvPr name="AutoShape 5" id="5"/>
          <p:cNvSpPr/>
          <p:nvPr/>
        </p:nvSpPr>
        <p:spPr>
          <a:xfrm>
            <a:off x="6286500" y="1657350"/>
            <a:ext cx="5715000" cy="0"/>
          </a:xfrm>
          <a:prstGeom prst="line">
            <a:avLst/>
          </a:prstGeom>
          <a:ln cap="flat" w="28575">
            <a:solidFill>
              <a:srgbClr val="E8A83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381000" y="2000250"/>
            <a:ext cx="5686425" cy="3238500"/>
            <a:chOff x="0" y="0"/>
            <a:chExt cx="7581900" cy="431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819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7581900">
                  <a:moveTo>
                    <a:pt x="431800" y="0"/>
                  </a:moveTo>
                  <a:lnTo>
                    <a:pt x="7150100" y="0"/>
                  </a:lnTo>
                  <a:cubicBezTo>
                    <a:pt x="7388577" y="0"/>
                    <a:pt x="7581900" y="193323"/>
                    <a:pt x="7581900" y="431800"/>
                  </a:cubicBezTo>
                  <a:lnTo>
                    <a:pt x="7581900" y="3886200"/>
                  </a:lnTo>
                  <a:cubicBezTo>
                    <a:pt x="7581900" y="4124677"/>
                    <a:pt x="7388577" y="4318000"/>
                    <a:pt x="7150100" y="4318000"/>
                  </a:cubicBezTo>
                  <a:lnTo>
                    <a:pt x="431800" y="4318000"/>
                  </a:lnTo>
                  <a:cubicBezTo>
                    <a:pt x="193323" y="4318000"/>
                    <a:pt x="0" y="4124677"/>
                    <a:pt x="0" y="3886200"/>
                  </a:cubicBezTo>
                  <a:lnTo>
                    <a:pt x="0" y="431800"/>
                  </a:lnTo>
                  <a:cubicBezTo>
                    <a:pt x="0" y="193323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EAF1F8"/>
            </a:solidFill>
            <a:ln w="9525" cap="sq">
              <a:solidFill>
                <a:srgbClr val="C4D6E8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581900" cy="435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81000" y="2000250"/>
            <a:ext cx="5686425" cy="47625"/>
            <a:chOff x="0" y="0"/>
            <a:chExt cx="7581900" cy="63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581900" cy="63500"/>
            </a:xfrm>
            <a:custGeom>
              <a:avLst/>
              <a:gdLst/>
              <a:ahLst/>
              <a:cxnLst/>
              <a:rect r="r" b="b" t="t" l="l"/>
              <a:pathLst>
                <a:path h="63500" w="7581900">
                  <a:moveTo>
                    <a:pt x="0" y="0"/>
                  </a:moveTo>
                  <a:lnTo>
                    <a:pt x="7581900" y="0"/>
                  </a:lnTo>
                  <a:lnTo>
                    <a:pt x="75819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0F599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5819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61975" y="2171700"/>
            <a:ext cx="5305425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0"/>
              </a:lnSpc>
            </a:pPr>
            <a:r>
              <a:rPr lang="en-US" b="true" sz="1700">
                <a:solidFill>
                  <a:srgbClr val="0F599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CONFIDENCIALIDAD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1500" y="2533650"/>
            <a:ext cx="5305425" cy="11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1A2A3A"/>
                </a:solidFill>
                <a:latin typeface="Open Sauce"/>
                <a:ea typeface="Open Sauce"/>
                <a:cs typeface="Open Sauce"/>
                <a:sym typeface="Open Sauce"/>
              </a:rPr>
              <a:t>HTTPS / TLS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1A2A3A"/>
                </a:solidFill>
                <a:latin typeface="Open Sauce"/>
                <a:ea typeface="Open Sauce"/>
                <a:cs typeface="Open Sauce"/>
                <a:sym typeface="Open Sauce"/>
              </a:rPr>
              <a:t>  Hash seguro de contrasenas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1A2A3A"/>
                </a:solidFill>
                <a:latin typeface="Open Sauce"/>
                <a:ea typeface="Open Sauce"/>
                <a:cs typeface="Open Sauce"/>
                <a:sym typeface="Open Sauce"/>
              </a:rPr>
              <a:t>  Control de acceso por roles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1A2A3A"/>
                </a:solidFill>
                <a:latin typeface="Open Sauce"/>
                <a:ea typeface="Open Sauce"/>
                <a:cs typeface="Open Sauce"/>
                <a:sym typeface="Open Sauce"/>
              </a:rPr>
              <a:t>  Gestion segura de credenciales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296025" y="2000250"/>
            <a:ext cx="5686425" cy="3238500"/>
            <a:chOff x="0" y="0"/>
            <a:chExt cx="7581900" cy="4318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819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7581900">
                  <a:moveTo>
                    <a:pt x="431800" y="0"/>
                  </a:moveTo>
                  <a:lnTo>
                    <a:pt x="7150100" y="0"/>
                  </a:lnTo>
                  <a:cubicBezTo>
                    <a:pt x="7388577" y="0"/>
                    <a:pt x="7581900" y="193323"/>
                    <a:pt x="7581900" y="431800"/>
                  </a:cubicBezTo>
                  <a:lnTo>
                    <a:pt x="7581900" y="3886200"/>
                  </a:lnTo>
                  <a:cubicBezTo>
                    <a:pt x="7581900" y="4124677"/>
                    <a:pt x="7388577" y="4318000"/>
                    <a:pt x="7150100" y="4318000"/>
                  </a:cubicBezTo>
                  <a:lnTo>
                    <a:pt x="431800" y="4318000"/>
                  </a:lnTo>
                  <a:cubicBezTo>
                    <a:pt x="193323" y="4318000"/>
                    <a:pt x="0" y="4124677"/>
                    <a:pt x="0" y="3886200"/>
                  </a:cubicBezTo>
                  <a:lnTo>
                    <a:pt x="0" y="431800"/>
                  </a:lnTo>
                  <a:cubicBezTo>
                    <a:pt x="0" y="193323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EAF1F8"/>
            </a:solidFill>
            <a:ln w="9525" cap="sq">
              <a:solidFill>
                <a:srgbClr val="C4D6E8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581900" cy="435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296025" y="2000250"/>
            <a:ext cx="5686425" cy="47625"/>
            <a:chOff x="0" y="0"/>
            <a:chExt cx="7581900" cy="63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581900" cy="63500"/>
            </a:xfrm>
            <a:custGeom>
              <a:avLst/>
              <a:gdLst/>
              <a:ahLst/>
              <a:cxnLst/>
              <a:rect r="r" b="b" t="t" l="l"/>
              <a:pathLst>
                <a:path h="63500" w="7581900">
                  <a:moveTo>
                    <a:pt x="0" y="0"/>
                  </a:moveTo>
                  <a:lnTo>
                    <a:pt x="7581900" y="0"/>
                  </a:lnTo>
                  <a:lnTo>
                    <a:pt x="75819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0F599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5819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477000" y="2171700"/>
            <a:ext cx="5305425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0"/>
              </a:lnSpc>
            </a:pPr>
            <a:r>
              <a:rPr lang="en-US" b="true" sz="1700">
                <a:solidFill>
                  <a:srgbClr val="0F599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INTEGRIDAD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486525" y="2533650"/>
            <a:ext cx="5305425" cy="11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1A2A3A"/>
                </a:solidFill>
                <a:latin typeface="Open Sauce"/>
                <a:ea typeface="Open Sauce"/>
                <a:cs typeface="Open Sauce"/>
                <a:sym typeface="Open Sauce"/>
              </a:rPr>
              <a:t>Autenticacion de alertas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1A2A3A"/>
                </a:solidFill>
                <a:latin typeface="Open Sauce"/>
                <a:ea typeface="Open Sauce"/>
                <a:cs typeface="Open Sauce"/>
                <a:sym typeface="Open Sauce"/>
              </a:rPr>
              <a:t>  Identificador unico + timestamp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1A2A3A"/>
                </a:solidFill>
                <a:latin typeface="Open Sauce"/>
                <a:ea typeface="Open Sauce"/>
                <a:cs typeface="Open Sauce"/>
                <a:sym typeface="Open Sauce"/>
              </a:rPr>
              <a:t>  Proteccion contra Replay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1A2A3A"/>
                </a:solidFill>
                <a:latin typeface="Open Sauce"/>
                <a:ea typeface="Open Sauce"/>
                <a:cs typeface="Open Sauce"/>
                <a:sym typeface="Open Sauce"/>
              </a:rPr>
              <a:t>  Validacion de mensajes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211050" y="2000250"/>
            <a:ext cx="5686425" cy="3238500"/>
            <a:chOff x="0" y="0"/>
            <a:chExt cx="7581900" cy="4318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5819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7581900">
                  <a:moveTo>
                    <a:pt x="431800" y="0"/>
                  </a:moveTo>
                  <a:lnTo>
                    <a:pt x="7150100" y="0"/>
                  </a:lnTo>
                  <a:cubicBezTo>
                    <a:pt x="7388577" y="0"/>
                    <a:pt x="7581900" y="193323"/>
                    <a:pt x="7581900" y="431800"/>
                  </a:cubicBezTo>
                  <a:lnTo>
                    <a:pt x="7581900" y="3886200"/>
                  </a:lnTo>
                  <a:cubicBezTo>
                    <a:pt x="7581900" y="4124677"/>
                    <a:pt x="7388577" y="4318000"/>
                    <a:pt x="7150100" y="4318000"/>
                  </a:cubicBezTo>
                  <a:lnTo>
                    <a:pt x="431800" y="4318000"/>
                  </a:lnTo>
                  <a:cubicBezTo>
                    <a:pt x="193323" y="4318000"/>
                    <a:pt x="0" y="4124677"/>
                    <a:pt x="0" y="3886200"/>
                  </a:cubicBezTo>
                  <a:lnTo>
                    <a:pt x="0" y="431800"/>
                  </a:lnTo>
                  <a:cubicBezTo>
                    <a:pt x="0" y="193323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EAF1F8"/>
            </a:solidFill>
            <a:ln w="9525" cap="sq">
              <a:solidFill>
                <a:srgbClr val="C4D6E8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581900" cy="435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211050" y="2000250"/>
            <a:ext cx="5686425" cy="47625"/>
            <a:chOff x="0" y="0"/>
            <a:chExt cx="7581900" cy="63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581900" cy="63500"/>
            </a:xfrm>
            <a:custGeom>
              <a:avLst/>
              <a:gdLst/>
              <a:ahLst/>
              <a:cxnLst/>
              <a:rect r="r" b="b" t="t" l="l"/>
              <a:pathLst>
                <a:path h="63500" w="7581900">
                  <a:moveTo>
                    <a:pt x="0" y="0"/>
                  </a:moveTo>
                  <a:lnTo>
                    <a:pt x="7581900" y="0"/>
                  </a:lnTo>
                  <a:lnTo>
                    <a:pt x="75819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0F5995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75819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2392025" y="2171700"/>
            <a:ext cx="5305425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0"/>
              </a:lnSpc>
            </a:pPr>
            <a:r>
              <a:rPr lang="en-US" b="true" sz="1700">
                <a:solidFill>
                  <a:srgbClr val="0F599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DISPONIBILIDAD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01550" y="2533650"/>
            <a:ext cx="5305425" cy="11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1A2A3A"/>
                </a:solidFill>
                <a:latin typeface="Open Sauce"/>
                <a:ea typeface="Open Sauce"/>
                <a:cs typeface="Open Sauce"/>
                <a:sym typeface="Open Sauce"/>
              </a:rPr>
              <a:t>Comunicacion RF como respaldo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1A2A3A"/>
                </a:solidFill>
                <a:latin typeface="Open Sauce"/>
                <a:ea typeface="Open Sauce"/>
                <a:cs typeface="Open Sauce"/>
                <a:sym typeface="Open Sauce"/>
              </a:rPr>
              <a:t>  Bateria / UPS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1A2A3A"/>
                </a:solidFill>
                <a:latin typeface="Open Sauce"/>
                <a:ea typeface="Open Sauce"/>
                <a:cs typeface="Open Sauce"/>
                <a:sym typeface="Open Sauce"/>
              </a:rPr>
              <a:t>  ACK + retransmision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1A2A3A"/>
                </a:solidFill>
                <a:latin typeface="Open Sauce"/>
                <a:ea typeface="Open Sauce"/>
                <a:cs typeface="Open Sauce"/>
                <a:sym typeface="Open Sauce"/>
              </a:rPr>
              <a:t>  Watchdog y monitoreo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334000" y="5495925"/>
            <a:ext cx="7620000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b="true" sz="2000">
                <a:solidFill>
                  <a:srgbClr val="0F599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SEGURIDAD POR CAPAS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3619500" y="5962650"/>
            <a:ext cx="1905000" cy="400050"/>
            <a:chOff x="0" y="0"/>
            <a:chExt cx="2540000" cy="533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40000" cy="533400"/>
            </a:xfrm>
            <a:custGeom>
              <a:avLst/>
              <a:gdLst/>
              <a:ahLst/>
              <a:cxnLst/>
              <a:rect r="r" b="b" t="t" l="l"/>
              <a:pathLst>
                <a:path h="533400" w="2540000">
                  <a:moveTo>
                    <a:pt x="53340" y="0"/>
                  </a:moveTo>
                  <a:lnTo>
                    <a:pt x="2486660" y="0"/>
                  </a:lnTo>
                  <a:cubicBezTo>
                    <a:pt x="2516119" y="0"/>
                    <a:pt x="2540000" y="23881"/>
                    <a:pt x="2540000" y="53340"/>
                  </a:cubicBezTo>
                  <a:lnTo>
                    <a:pt x="2540000" y="480060"/>
                  </a:lnTo>
                  <a:cubicBezTo>
                    <a:pt x="2540000" y="509519"/>
                    <a:pt x="2516119" y="533400"/>
                    <a:pt x="2486660" y="533400"/>
                  </a:cubicBezTo>
                  <a:lnTo>
                    <a:pt x="53340" y="533400"/>
                  </a:lnTo>
                  <a:cubicBezTo>
                    <a:pt x="39193" y="533400"/>
                    <a:pt x="25626" y="527780"/>
                    <a:pt x="15623" y="517777"/>
                  </a:cubicBezTo>
                  <a:cubicBezTo>
                    <a:pt x="5620" y="507774"/>
                    <a:pt x="0" y="494207"/>
                    <a:pt x="0" y="480060"/>
                  </a:cubicBezTo>
                  <a:lnTo>
                    <a:pt x="0" y="53340"/>
                  </a:lnTo>
                  <a:cubicBezTo>
                    <a:pt x="0" y="23881"/>
                    <a:pt x="23881" y="0"/>
                    <a:pt x="53340" y="0"/>
                  </a:cubicBezTo>
                  <a:close/>
                </a:path>
              </a:pathLst>
            </a:custGeom>
            <a:solidFill>
              <a:srgbClr val="0F5995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5400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3667125" y="6067425"/>
            <a:ext cx="180975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b="true" sz="12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Autenticacion</a:t>
            </a:r>
          </a:p>
        </p:txBody>
      </p:sp>
      <p:sp>
        <p:nvSpPr>
          <p:cNvPr name="AutoShape 35" id="35"/>
          <p:cNvSpPr/>
          <p:nvPr/>
        </p:nvSpPr>
        <p:spPr>
          <a:xfrm>
            <a:off x="5562600" y="6162675"/>
            <a:ext cx="304800" cy="0"/>
          </a:xfrm>
          <a:prstGeom prst="line">
            <a:avLst/>
          </a:prstGeom>
          <a:ln cap="flat" w="19050">
            <a:solidFill>
              <a:srgbClr val="E8A83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6" id="36"/>
          <p:cNvGrpSpPr/>
          <p:nvPr/>
        </p:nvGrpSpPr>
        <p:grpSpPr>
          <a:xfrm rot="0">
            <a:off x="5905500" y="5962650"/>
            <a:ext cx="1905000" cy="400050"/>
            <a:chOff x="0" y="0"/>
            <a:chExt cx="2540000" cy="533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540000" cy="533400"/>
            </a:xfrm>
            <a:custGeom>
              <a:avLst/>
              <a:gdLst/>
              <a:ahLst/>
              <a:cxnLst/>
              <a:rect r="r" b="b" t="t" l="l"/>
              <a:pathLst>
                <a:path h="533400" w="2540000">
                  <a:moveTo>
                    <a:pt x="53340" y="0"/>
                  </a:moveTo>
                  <a:lnTo>
                    <a:pt x="2486660" y="0"/>
                  </a:lnTo>
                  <a:cubicBezTo>
                    <a:pt x="2516119" y="0"/>
                    <a:pt x="2540000" y="23881"/>
                    <a:pt x="2540000" y="53340"/>
                  </a:cubicBezTo>
                  <a:lnTo>
                    <a:pt x="2540000" y="480060"/>
                  </a:lnTo>
                  <a:cubicBezTo>
                    <a:pt x="2540000" y="509519"/>
                    <a:pt x="2516119" y="533400"/>
                    <a:pt x="2486660" y="533400"/>
                  </a:cubicBezTo>
                  <a:lnTo>
                    <a:pt x="53340" y="533400"/>
                  </a:lnTo>
                  <a:cubicBezTo>
                    <a:pt x="39193" y="533400"/>
                    <a:pt x="25626" y="527780"/>
                    <a:pt x="15623" y="517777"/>
                  </a:cubicBezTo>
                  <a:cubicBezTo>
                    <a:pt x="5620" y="507774"/>
                    <a:pt x="0" y="494207"/>
                    <a:pt x="0" y="480060"/>
                  </a:cubicBezTo>
                  <a:lnTo>
                    <a:pt x="0" y="53340"/>
                  </a:lnTo>
                  <a:cubicBezTo>
                    <a:pt x="0" y="23881"/>
                    <a:pt x="23881" y="0"/>
                    <a:pt x="53340" y="0"/>
                  </a:cubicBezTo>
                  <a:close/>
                </a:path>
              </a:pathLst>
            </a:custGeom>
            <a:solidFill>
              <a:srgbClr val="0F5995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5400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5953125" y="6067425"/>
            <a:ext cx="180975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b="true" sz="12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Cifrado</a:t>
            </a:r>
          </a:p>
        </p:txBody>
      </p:sp>
      <p:sp>
        <p:nvSpPr>
          <p:cNvPr name="AutoShape 40" id="40"/>
          <p:cNvSpPr/>
          <p:nvPr/>
        </p:nvSpPr>
        <p:spPr>
          <a:xfrm>
            <a:off x="7848600" y="6162675"/>
            <a:ext cx="304800" cy="0"/>
          </a:xfrm>
          <a:prstGeom prst="line">
            <a:avLst/>
          </a:prstGeom>
          <a:ln cap="flat" w="19050">
            <a:solidFill>
              <a:srgbClr val="E8A83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1" id="41"/>
          <p:cNvGrpSpPr/>
          <p:nvPr/>
        </p:nvGrpSpPr>
        <p:grpSpPr>
          <a:xfrm rot="0">
            <a:off x="8191500" y="5962650"/>
            <a:ext cx="1905000" cy="400050"/>
            <a:chOff x="0" y="0"/>
            <a:chExt cx="2540000" cy="533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540000" cy="533400"/>
            </a:xfrm>
            <a:custGeom>
              <a:avLst/>
              <a:gdLst/>
              <a:ahLst/>
              <a:cxnLst/>
              <a:rect r="r" b="b" t="t" l="l"/>
              <a:pathLst>
                <a:path h="533400" w="2540000">
                  <a:moveTo>
                    <a:pt x="53340" y="0"/>
                  </a:moveTo>
                  <a:lnTo>
                    <a:pt x="2486660" y="0"/>
                  </a:lnTo>
                  <a:cubicBezTo>
                    <a:pt x="2516119" y="0"/>
                    <a:pt x="2540000" y="23881"/>
                    <a:pt x="2540000" y="53340"/>
                  </a:cubicBezTo>
                  <a:lnTo>
                    <a:pt x="2540000" y="480060"/>
                  </a:lnTo>
                  <a:cubicBezTo>
                    <a:pt x="2540000" y="509519"/>
                    <a:pt x="2516119" y="533400"/>
                    <a:pt x="2486660" y="533400"/>
                  </a:cubicBezTo>
                  <a:lnTo>
                    <a:pt x="53340" y="533400"/>
                  </a:lnTo>
                  <a:cubicBezTo>
                    <a:pt x="39193" y="533400"/>
                    <a:pt x="25626" y="527780"/>
                    <a:pt x="15623" y="517777"/>
                  </a:cubicBezTo>
                  <a:cubicBezTo>
                    <a:pt x="5620" y="507774"/>
                    <a:pt x="0" y="494207"/>
                    <a:pt x="0" y="480060"/>
                  </a:cubicBezTo>
                  <a:lnTo>
                    <a:pt x="0" y="53340"/>
                  </a:lnTo>
                  <a:cubicBezTo>
                    <a:pt x="0" y="23881"/>
                    <a:pt x="23881" y="0"/>
                    <a:pt x="53340" y="0"/>
                  </a:cubicBezTo>
                  <a:close/>
                </a:path>
              </a:pathLst>
            </a:custGeom>
            <a:solidFill>
              <a:srgbClr val="0F5995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5400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8239125" y="6067425"/>
            <a:ext cx="180975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b="true" sz="12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Control de acceso</a:t>
            </a:r>
          </a:p>
        </p:txBody>
      </p:sp>
      <p:sp>
        <p:nvSpPr>
          <p:cNvPr name="AutoShape 45" id="45"/>
          <p:cNvSpPr/>
          <p:nvPr/>
        </p:nvSpPr>
        <p:spPr>
          <a:xfrm>
            <a:off x="10134600" y="6162675"/>
            <a:ext cx="304800" cy="0"/>
          </a:xfrm>
          <a:prstGeom prst="line">
            <a:avLst/>
          </a:prstGeom>
          <a:ln cap="flat" w="19050">
            <a:solidFill>
              <a:srgbClr val="E8A83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6" id="46"/>
          <p:cNvGrpSpPr/>
          <p:nvPr/>
        </p:nvGrpSpPr>
        <p:grpSpPr>
          <a:xfrm rot="0">
            <a:off x="10477500" y="5962650"/>
            <a:ext cx="1905000" cy="400050"/>
            <a:chOff x="0" y="0"/>
            <a:chExt cx="2540000" cy="533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540000" cy="533400"/>
            </a:xfrm>
            <a:custGeom>
              <a:avLst/>
              <a:gdLst/>
              <a:ahLst/>
              <a:cxnLst/>
              <a:rect r="r" b="b" t="t" l="l"/>
              <a:pathLst>
                <a:path h="533400" w="2540000">
                  <a:moveTo>
                    <a:pt x="53340" y="0"/>
                  </a:moveTo>
                  <a:lnTo>
                    <a:pt x="2486660" y="0"/>
                  </a:lnTo>
                  <a:cubicBezTo>
                    <a:pt x="2516119" y="0"/>
                    <a:pt x="2540000" y="23881"/>
                    <a:pt x="2540000" y="53340"/>
                  </a:cubicBezTo>
                  <a:lnTo>
                    <a:pt x="2540000" y="480060"/>
                  </a:lnTo>
                  <a:cubicBezTo>
                    <a:pt x="2540000" y="509519"/>
                    <a:pt x="2516119" y="533400"/>
                    <a:pt x="2486660" y="533400"/>
                  </a:cubicBezTo>
                  <a:lnTo>
                    <a:pt x="53340" y="533400"/>
                  </a:lnTo>
                  <a:cubicBezTo>
                    <a:pt x="39193" y="533400"/>
                    <a:pt x="25626" y="527780"/>
                    <a:pt x="15623" y="517777"/>
                  </a:cubicBezTo>
                  <a:cubicBezTo>
                    <a:pt x="5620" y="507774"/>
                    <a:pt x="0" y="494207"/>
                    <a:pt x="0" y="480060"/>
                  </a:cubicBezTo>
                  <a:lnTo>
                    <a:pt x="0" y="53340"/>
                  </a:lnTo>
                  <a:cubicBezTo>
                    <a:pt x="0" y="23881"/>
                    <a:pt x="23881" y="0"/>
                    <a:pt x="53340" y="0"/>
                  </a:cubicBezTo>
                  <a:close/>
                </a:path>
              </a:pathLst>
            </a:custGeom>
            <a:solidFill>
              <a:srgbClr val="0F5995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5400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0525125" y="6067425"/>
            <a:ext cx="180975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b="true" sz="12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Validacion</a:t>
            </a:r>
          </a:p>
        </p:txBody>
      </p:sp>
      <p:sp>
        <p:nvSpPr>
          <p:cNvPr name="AutoShape 50" id="50"/>
          <p:cNvSpPr/>
          <p:nvPr/>
        </p:nvSpPr>
        <p:spPr>
          <a:xfrm>
            <a:off x="12420600" y="6162675"/>
            <a:ext cx="304800" cy="0"/>
          </a:xfrm>
          <a:prstGeom prst="line">
            <a:avLst/>
          </a:prstGeom>
          <a:ln cap="flat" w="19050">
            <a:solidFill>
              <a:srgbClr val="E8A83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1" id="51"/>
          <p:cNvGrpSpPr/>
          <p:nvPr/>
        </p:nvGrpSpPr>
        <p:grpSpPr>
          <a:xfrm rot="0">
            <a:off x="12763500" y="5962650"/>
            <a:ext cx="1905000" cy="400050"/>
            <a:chOff x="0" y="0"/>
            <a:chExt cx="2540000" cy="533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540000" cy="533400"/>
            </a:xfrm>
            <a:custGeom>
              <a:avLst/>
              <a:gdLst/>
              <a:ahLst/>
              <a:cxnLst/>
              <a:rect r="r" b="b" t="t" l="l"/>
              <a:pathLst>
                <a:path h="533400" w="2540000">
                  <a:moveTo>
                    <a:pt x="53340" y="0"/>
                  </a:moveTo>
                  <a:lnTo>
                    <a:pt x="2486660" y="0"/>
                  </a:lnTo>
                  <a:cubicBezTo>
                    <a:pt x="2516119" y="0"/>
                    <a:pt x="2540000" y="23881"/>
                    <a:pt x="2540000" y="53340"/>
                  </a:cubicBezTo>
                  <a:lnTo>
                    <a:pt x="2540000" y="480060"/>
                  </a:lnTo>
                  <a:cubicBezTo>
                    <a:pt x="2540000" y="509519"/>
                    <a:pt x="2516119" y="533400"/>
                    <a:pt x="2486660" y="533400"/>
                  </a:cubicBezTo>
                  <a:lnTo>
                    <a:pt x="53340" y="533400"/>
                  </a:lnTo>
                  <a:cubicBezTo>
                    <a:pt x="39193" y="533400"/>
                    <a:pt x="25626" y="527780"/>
                    <a:pt x="15623" y="517777"/>
                  </a:cubicBezTo>
                  <a:cubicBezTo>
                    <a:pt x="5620" y="507774"/>
                    <a:pt x="0" y="494207"/>
                    <a:pt x="0" y="480060"/>
                  </a:cubicBezTo>
                  <a:lnTo>
                    <a:pt x="0" y="53340"/>
                  </a:lnTo>
                  <a:cubicBezTo>
                    <a:pt x="0" y="23881"/>
                    <a:pt x="23881" y="0"/>
                    <a:pt x="53340" y="0"/>
                  </a:cubicBezTo>
                  <a:close/>
                </a:path>
              </a:pathLst>
            </a:custGeom>
            <a:solidFill>
              <a:srgbClr val="0F5995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25400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2811125" y="6067425"/>
            <a:ext cx="180975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b="true" sz="12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Auditoria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4381500" y="6629400"/>
            <a:ext cx="9525000" cy="1047750"/>
            <a:chOff x="0" y="0"/>
            <a:chExt cx="12700000" cy="13970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2700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2700000">
                  <a:moveTo>
                    <a:pt x="139700" y="0"/>
                  </a:moveTo>
                  <a:lnTo>
                    <a:pt x="12560300" y="0"/>
                  </a:lnTo>
                  <a:cubicBezTo>
                    <a:pt x="12637454" y="0"/>
                    <a:pt x="12700000" y="62546"/>
                    <a:pt x="12700000" y="139700"/>
                  </a:cubicBezTo>
                  <a:lnTo>
                    <a:pt x="12700000" y="1257300"/>
                  </a:lnTo>
                  <a:cubicBezTo>
                    <a:pt x="12700000" y="1334454"/>
                    <a:pt x="12637454" y="1397000"/>
                    <a:pt x="12560300" y="1397000"/>
                  </a:cubicBezTo>
                  <a:lnTo>
                    <a:pt x="139700" y="1397000"/>
                  </a:lnTo>
                  <a:cubicBezTo>
                    <a:pt x="62546" y="1397000"/>
                    <a:pt x="0" y="1334454"/>
                    <a:pt x="0" y="1257300"/>
                  </a:cubicBezTo>
                  <a:lnTo>
                    <a:pt x="0" y="139700"/>
                  </a:lnTo>
                  <a:cubicBezTo>
                    <a:pt x="0" y="62546"/>
                    <a:pt x="62546" y="0"/>
                    <a:pt x="139700" y="0"/>
                  </a:cubicBezTo>
                  <a:close/>
                </a:path>
              </a:pathLst>
            </a:custGeom>
            <a:solidFill>
              <a:srgbClr val="E8F0FA"/>
            </a:solidFill>
            <a:ln w="19050" cap="sq">
              <a:solidFill>
                <a:srgbClr val="0F5995"/>
              </a:solidFill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2700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4572000" y="6762750"/>
            <a:ext cx="914400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b="true" sz="2199">
                <a:solidFill>
                  <a:srgbClr val="0F599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Internet + RF = Comunicacion redundante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667250" y="7153275"/>
            <a:ext cx="8953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4A5A6A"/>
                </a:solidFill>
                <a:latin typeface="Open Sauce"/>
                <a:ea typeface="Open Sauce"/>
                <a:cs typeface="Open Sauce"/>
                <a:sym typeface="Open Sauce"/>
              </a:rPr>
              <a:t>Si Internet falla, los nodos ESP32 + NRF24 pueden mantener la distribucion local de alertas.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5662" y="150498"/>
            <a:ext cx="3956253" cy="972579"/>
          </a:xfrm>
          <a:custGeom>
            <a:avLst/>
            <a:gdLst/>
            <a:ahLst/>
            <a:cxnLst/>
            <a:rect r="r" b="b" t="t" l="l"/>
            <a:pathLst>
              <a:path h="972579" w="3956253">
                <a:moveTo>
                  <a:pt x="0" y="0"/>
                </a:moveTo>
                <a:lnTo>
                  <a:pt x="3956254" y="0"/>
                </a:lnTo>
                <a:lnTo>
                  <a:pt x="3956254" y="972579"/>
                </a:lnTo>
                <a:lnTo>
                  <a:pt x="0" y="972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7972" y="1649312"/>
            <a:ext cx="7498652" cy="4293503"/>
          </a:xfrm>
          <a:custGeom>
            <a:avLst/>
            <a:gdLst/>
            <a:ahLst/>
            <a:cxnLst/>
            <a:rect r="r" b="b" t="t" l="l"/>
            <a:pathLst>
              <a:path h="4293503" w="7498652">
                <a:moveTo>
                  <a:pt x="0" y="0"/>
                </a:moveTo>
                <a:lnTo>
                  <a:pt x="7498653" y="0"/>
                </a:lnTo>
                <a:lnTo>
                  <a:pt x="7498653" y="4293503"/>
                </a:lnTo>
                <a:lnTo>
                  <a:pt x="0" y="42935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63689" y="1649312"/>
            <a:ext cx="6437743" cy="4293503"/>
          </a:xfrm>
          <a:custGeom>
            <a:avLst/>
            <a:gdLst/>
            <a:ahLst/>
            <a:cxnLst/>
            <a:rect r="r" b="b" t="t" l="l"/>
            <a:pathLst>
              <a:path h="4293503" w="6437743">
                <a:moveTo>
                  <a:pt x="0" y="0"/>
                </a:moveTo>
                <a:lnTo>
                  <a:pt x="6437744" y="0"/>
                </a:lnTo>
                <a:lnTo>
                  <a:pt x="6437744" y="4293503"/>
                </a:lnTo>
                <a:lnTo>
                  <a:pt x="0" y="42935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11250" y="5807847"/>
            <a:ext cx="8665499" cy="5797199"/>
          </a:xfrm>
          <a:custGeom>
            <a:avLst/>
            <a:gdLst/>
            <a:ahLst/>
            <a:cxnLst/>
            <a:rect r="r" b="b" t="t" l="l"/>
            <a:pathLst>
              <a:path h="5797199" w="8665499">
                <a:moveTo>
                  <a:pt x="0" y="0"/>
                </a:moveTo>
                <a:lnTo>
                  <a:pt x="8665500" y="0"/>
                </a:lnTo>
                <a:lnTo>
                  <a:pt x="8665500" y="5797199"/>
                </a:lnTo>
                <a:lnTo>
                  <a:pt x="0" y="57971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75132" y="579638"/>
            <a:ext cx="9537736" cy="90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1"/>
              </a:lnSpc>
            </a:pPr>
            <a:r>
              <a:rPr lang="en-US" b="true" sz="5539">
                <a:solidFill>
                  <a:srgbClr val="0F599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Mockup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2759686" y="0"/>
            <a:ext cx="6499679" cy="2485706"/>
          </a:xfrm>
          <a:custGeom>
            <a:avLst/>
            <a:gdLst/>
            <a:ahLst/>
            <a:cxnLst/>
            <a:rect r="r" b="b" t="t" l="l"/>
            <a:pathLst>
              <a:path h="2485706" w="6499679">
                <a:moveTo>
                  <a:pt x="6499678" y="2485706"/>
                </a:moveTo>
                <a:lnTo>
                  <a:pt x="0" y="2485706"/>
                </a:lnTo>
                <a:lnTo>
                  <a:pt x="0" y="0"/>
                </a:lnTo>
                <a:lnTo>
                  <a:pt x="6499678" y="0"/>
                </a:lnTo>
                <a:lnTo>
                  <a:pt x="6499678" y="2485706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9322" r="0" b="-8216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70208" y="1185703"/>
            <a:ext cx="8947584" cy="90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1"/>
              </a:lnSpc>
            </a:pPr>
            <a:r>
              <a:rPr lang="en-US" b="true" sz="5539">
                <a:solidFill>
                  <a:srgbClr val="0F599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Conclusión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523117" y="8591048"/>
            <a:ext cx="878362" cy="878362"/>
          </a:xfrm>
          <a:custGeom>
            <a:avLst/>
            <a:gdLst/>
            <a:ahLst/>
            <a:cxnLst/>
            <a:rect r="r" b="b" t="t" l="l"/>
            <a:pathLst>
              <a:path h="878362" w="878362">
                <a:moveTo>
                  <a:pt x="0" y="0"/>
                </a:moveTo>
                <a:lnTo>
                  <a:pt x="878362" y="0"/>
                </a:lnTo>
                <a:lnTo>
                  <a:pt x="878362" y="878362"/>
                </a:lnTo>
                <a:lnTo>
                  <a:pt x="0" y="8783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9519" y="2485706"/>
            <a:ext cx="878362" cy="878362"/>
          </a:xfrm>
          <a:custGeom>
            <a:avLst/>
            <a:gdLst/>
            <a:ahLst/>
            <a:cxnLst/>
            <a:rect r="r" b="b" t="t" l="l"/>
            <a:pathLst>
              <a:path h="878362" w="878362">
                <a:moveTo>
                  <a:pt x="0" y="0"/>
                </a:moveTo>
                <a:lnTo>
                  <a:pt x="878362" y="0"/>
                </a:lnTo>
                <a:lnTo>
                  <a:pt x="878362" y="878362"/>
                </a:lnTo>
                <a:lnTo>
                  <a:pt x="0" y="8783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5662" y="150498"/>
            <a:ext cx="3956253" cy="972579"/>
          </a:xfrm>
          <a:custGeom>
            <a:avLst/>
            <a:gdLst/>
            <a:ahLst/>
            <a:cxnLst/>
            <a:rect r="r" b="b" t="t" l="l"/>
            <a:pathLst>
              <a:path h="972579" w="3956253">
                <a:moveTo>
                  <a:pt x="0" y="0"/>
                </a:moveTo>
                <a:lnTo>
                  <a:pt x="3956254" y="0"/>
                </a:lnTo>
                <a:lnTo>
                  <a:pt x="3956254" y="972579"/>
                </a:lnTo>
                <a:lnTo>
                  <a:pt x="0" y="9725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80213" y="2782012"/>
            <a:ext cx="10909639" cy="2858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887"/>
              </a:lnSpc>
            </a:pPr>
            <a:r>
              <a:rPr lang="en-US" sz="193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QuakeSignal es un proyecto con un gran peso social, debido a que busca responder a una problemática donde un sistema de alerta (SAE) presenta fallas y que se han reportado consecuencias graves debido a esto, se espera un desarrollo exitoso debido a la definición claras de metas y una metodología con reglas, las cuales busca que cada integrante del equipo se pueda concentrar en sus tareas para buscar el desarrollo de estas de manera optimá.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DAHTzsBi3BI</dc:identifier>
  <dcterms:modified xsi:type="dcterms:W3CDTF">2011-08-01T06:04:30Z</dcterms:modified>
  <cp:revision>1</cp:revision>
  <dc:title>PresentaciónQuakeSignalFase1</dc:title>
</cp:coreProperties>
</file>